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68" r:id="rId6"/>
    <p:sldId id="259" r:id="rId7"/>
    <p:sldId id="260" r:id="rId8"/>
    <p:sldId id="269" r:id="rId9"/>
    <p:sldId id="270" r:id="rId10"/>
    <p:sldId id="261" r:id="rId11"/>
    <p:sldId id="265" r:id="rId12"/>
    <p:sldId id="266" r:id="rId13"/>
  </p:sldIdLst>
  <p:sldSz cx="24384000" cy="13716000"/>
  <p:notesSz cx="6858000" cy="9144000"/>
  <p:embeddedFontLst>
    <p:embeddedFont>
      <p:font typeface="맑은 고딕" panose="020B0503020000020004" pitchFamily="34" charset="-127"/>
      <p:regular r:id="rId15"/>
      <p:bold r:id="rId16"/>
    </p:embeddedFont>
    <p:embeddedFont>
      <p:font typeface="Gmarket Sans Bold" panose="02000000000000000000"/>
      <p:bold r:id="rId17"/>
    </p:embeddedFont>
    <p:embeddedFont>
      <p:font typeface="Gmarket Sans Medium" panose="02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 autoAdjust="0"/>
    <p:restoredTop sz="94589" autoAdjust="0"/>
  </p:normalViewPr>
  <p:slideViewPr>
    <p:cSldViewPr>
      <p:cViewPr varScale="1">
        <p:scale>
          <a:sx n="60" d="100"/>
          <a:sy n="60" d="100"/>
        </p:scale>
        <p:origin x="20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012FA-08E4-9A42-9D01-E597385AE7EE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268CFB-72D5-8D42-B153-F5A7D7A0171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89765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268CFB-72D5-8D42-B153-F5A7D7A01715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54181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4.png"/><Relationship Id="rId7" Type="http://schemas.openxmlformats.org/officeDocument/2006/relationships/image" Target="../media/image15.png"/><Relationship Id="rId12" Type="http://schemas.openxmlformats.org/officeDocument/2006/relationships/image" Target="../media/image3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19.png"/><Relationship Id="rId5" Type="http://schemas.openxmlformats.org/officeDocument/2006/relationships/image" Target="../media/image26.png"/><Relationship Id="rId10" Type="http://schemas.openxmlformats.org/officeDocument/2006/relationships/image" Target="../media/image29.png"/><Relationship Id="rId4" Type="http://schemas.openxmlformats.org/officeDocument/2006/relationships/image" Target="../media/image25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33.png"/><Relationship Id="rId12" Type="http://schemas.openxmlformats.org/officeDocument/2006/relationships/image" Target="../media/image1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7.png"/><Relationship Id="rId5" Type="http://schemas.openxmlformats.org/officeDocument/2006/relationships/image" Target="../media/image32.png"/><Relationship Id="rId15" Type="http://schemas.openxmlformats.org/officeDocument/2006/relationships/image" Target="../media/image39.png"/><Relationship Id="rId10" Type="http://schemas.openxmlformats.org/officeDocument/2006/relationships/image" Target="../media/image36.png"/><Relationship Id="rId4" Type="http://schemas.openxmlformats.org/officeDocument/2006/relationships/image" Target="../media/image16.png"/><Relationship Id="rId9" Type="http://schemas.openxmlformats.org/officeDocument/2006/relationships/image" Target="../media/image35.png"/><Relationship Id="rId1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4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6.png"/><Relationship Id="rId5" Type="http://schemas.openxmlformats.org/officeDocument/2006/relationships/image" Target="../media/image41.png"/><Relationship Id="rId10" Type="http://schemas.openxmlformats.org/officeDocument/2006/relationships/image" Target="../media/image45.png"/><Relationship Id="rId4" Type="http://schemas.openxmlformats.org/officeDocument/2006/relationships/image" Target="../media/image32.png"/><Relationship Id="rId9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9.png"/><Relationship Id="rId7" Type="http://schemas.openxmlformats.org/officeDocument/2006/relationships/image" Target="../media/image19.png"/><Relationship Id="rId12" Type="http://schemas.openxmlformats.org/officeDocument/2006/relationships/image" Target="../media/image5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54.png"/><Relationship Id="rId5" Type="http://schemas.openxmlformats.org/officeDocument/2006/relationships/image" Target="../media/image50.png"/><Relationship Id="rId10" Type="http://schemas.openxmlformats.org/officeDocument/2006/relationships/image" Target="../media/image53.png"/><Relationship Id="rId4" Type="http://schemas.openxmlformats.org/officeDocument/2006/relationships/image" Target="../media/image16.png"/><Relationship Id="rId9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7.png"/><Relationship Id="rId7" Type="http://schemas.openxmlformats.org/officeDocument/2006/relationships/image" Target="../media/image19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32.png"/><Relationship Id="rId4" Type="http://schemas.openxmlformats.org/officeDocument/2006/relationships/image" Target="../media/image58.png"/><Relationship Id="rId9" Type="http://schemas.openxmlformats.org/officeDocument/2006/relationships/image" Target="../media/image6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1.png"/><Relationship Id="rId7" Type="http://schemas.openxmlformats.org/officeDocument/2006/relationships/image" Target="../media/image22.png"/><Relationship Id="rId12" Type="http://schemas.openxmlformats.org/officeDocument/2006/relationships/image" Target="../media/image6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66.png"/><Relationship Id="rId5" Type="http://schemas.openxmlformats.org/officeDocument/2006/relationships/image" Target="../media/image63.png"/><Relationship Id="rId10" Type="http://schemas.openxmlformats.org/officeDocument/2006/relationships/image" Target="../media/image19.png"/><Relationship Id="rId4" Type="http://schemas.openxmlformats.org/officeDocument/2006/relationships/image" Target="../media/image62.png"/><Relationship Id="rId9" Type="http://schemas.openxmlformats.org/officeDocument/2006/relationships/image" Target="../media/image6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72.png"/><Relationship Id="rId3" Type="http://schemas.openxmlformats.org/officeDocument/2006/relationships/image" Target="../media/image15.png"/><Relationship Id="rId7" Type="http://schemas.openxmlformats.org/officeDocument/2006/relationships/image" Target="../media/image42.png"/><Relationship Id="rId12" Type="http://schemas.openxmlformats.org/officeDocument/2006/relationships/image" Target="../media/image7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70.png"/><Relationship Id="rId5" Type="http://schemas.openxmlformats.org/officeDocument/2006/relationships/image" Target="../media/image16.png"/><Relationship Id="rId10" Type="http://schemas.openxmlformats.org/officeDocument/2006/relationships/image" Target="../media/image69.png"/><Relationship Id="rId4" Type="http://schemas.openxmlformats.org/officeDocument/2006/relationships/image" Target="../media/image32.png"/><Relationship Id="rId9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8140700" y="2247900"/>
            <a:ext cx="27736800" cy="27292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9494500" y="762000"/>
            <a:ext cx="3886200" cy="685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3866" b="0" i="0" u="none" strike="noStrike" spc="-10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2026 ICCAS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200" y="1917700"/>
            <a:ext cx="18897600" cy="39878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447800" y="6464300"/>
            <a:ext cx="218821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9518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초고령사회 독거노인을 위한 24시간 실시간 모니터링 및 즉각 대응 플랫폼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4300" y="11861800"/>
            <a:ext cx="3162300" cy="952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714500" y="12153900"/>
            <a:ext cx="25146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2400" b="1" i="0" u="none" strike="noStrike" spc="-10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쵸코하임 조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7000" y="1651000"/>
            <a:ext cx="21818600" cy="63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7000" y="6083300"/>
            <a:ext cx="218186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2175">
            <a:off x="4546600" y="12306300"/>
            <a:ext cx="18669000" cy="63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28600" y="13017500"/>
            <a:ext cx="218821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9518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Gmarket Sans Medium"/>
                <a:ea typeface="Gmarket Sans Medium"/>
                <a:cs typeface="Gmarket Sans Medium"/>
              </a:rPr>
              <a:t>김다민, 박종혁, 알리, 조성우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>
            <a:off x="-6451600" y="8547100"/>
            <a:ext cx="14528800" cy="12357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6159500"/>
            <a:ext cx="292100" cy="29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6705600"/>
            <a:ext cx="292100" cy="292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7264400"/>
            <a:ext cx="292100" cy="292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8500" y="1562100"/>
            <a:ext cx="20434300" cy="2184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892300" y="5054600"/>
            <a:ext cx="1193800" cy="1066800"/>
          </a:xfrm>
          <a:prstGeom prst="rect">
            <a:avLst/>
          </a:prstGeom>
        </p:spPr>
        <p:txBody>
          <a:bodyPr lIns="0" tIns="133350" rIns="0" bIns="133350" rtlCol="0" anchor="ctr"/>
          <a:lstStyle/>
          <a:p>
            <a:pPr lvl="0" algn="ctr">
              <a:lnSpc>
                <a:spcPct val="87149"/>
              </a:lnSpc>
            </a:pPr>
            <a:r>
              <a:rPr lang="en-US" sz="6000" b="0" i="0" u="none" strike="noStrike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84600" y="5346700"/>
            <a:ext cx="4699000" cy="495300"/>
          </a:xfrm>
          <a:prstGeom prst="rect">
            <a:avLst/>
          </a:prstGeom>
        </p:spPr>
        <p:txBody>
          <a:bodyPr lIns="0" tIns="28448" rIns="0" bIns="28448" rtlCol="0" anchor="ctr"/>
          <a:lstStyle/>
          <a:p>
            <a:pPr lvl="0" algn="l">
              <a:lnSpc>
                <a:spcPct val="102919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서비스 개요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3400" y="5575300"/>
            <a:ext cx="584200" cy="25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3784600" y="6426200"/>
            <a:ext cx="46863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예방-감지-재활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3단계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통합</a:t>
            </a:r>
            <a:endParaRPr lang="en-US" sz="24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초고령사회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독거노인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타겟</a:t>
            </a:r>
            <a:endParaRPr lang="en-US" sz="24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실내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24시간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모니터링</a:t>
            </a:r>
            <a:endParaRPr lang="en-US" sz="24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핵심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메시지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및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작동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원리</a:t>
            </a:r>
            <a:endParaRPr lang="en-US" sz="24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750300" y="5054600"/>
            <a:ext cx="1435100" cy="1066800"/>
          </a:xfrm>
          <a:prstGeom prst="rect">
            <a:avLst/>
          </a:prstGeom>
        </p:spPr>
        <p:txBody>
          <a:bodyPr lIns="0" tIns="133350" rIns="0" bIns="133350" rtlCol="0" anchor="ctr"/>
          <a:lstStyle/>
          <a:p>
            <a:pPr lvl="0" algn="ctr">
              <a:lnSpc>
                <a:spcPct val="87149"/>
              </a:lnSpc>
            </a:pPr>
            <a:r>
              <a:rPr lang="en-US" sz="6000" b="0" i="0" u="none" strike="noStrike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82300" y="5346700"/>
            <a:ext cx="4699000" cy="495300"/>
          </a:xfrm>
          <a:prstGeom prst="rect">
            <a:avLst/>
          </a:prstGeom>
        </p:spPr>
        <p:txBody>
          <a:bodyPr lIns="0" tIns="28448" rIns="0" bIns="28448" rtlCol="0" anchor="ctr"/>
          <a:lstStyle/>
          <a:p>
            <a:pPr lvl="0" algn="l">
              <a:lnSpc>
                <a:spcPct val="102919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기존 솔루션 한계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1100" y="5575300"/>
            <a:ext cx="5842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0782300" y="6426200"/>
            <a:ext cx="4686300" cy="1282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웨어러블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기기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착용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저항성</a:t>
            </a:r>
            <a:endParaRPr lang="en-US" sz="24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CCTV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녹화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전용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문제</a:t>
            </a:r>
            <a:endParaRPr lang="en-US" sz="24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AI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분석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부재</a:t>
            </a:r>
            <a:endParaRPr lang="en-US" sz="24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5798800" y="5054600"/>
            <a:ext cx="1308100" cy="1066800"/>
          </a:xfrm>
          <a:prstGeom prst="rect">
            <a:avLst/>
          </a:prstGeom>
        </p:spPr>
        <p:txBody>
          <a:bodyPr lIns="0" tIns="133350" rIns="0" bIns="133350" rtlCol="0" anchor="ctr"/>
          <a:lstStyle/>
          <a:p>
            <a:pPr lvl="0" algn="ctr">
              <a:lnSpc>
                <a:spcPct val="87149"/>
              </a:lnSpc>
            </a:pPr>
            <a:r>
              <a:rPr lang="en-US" sz="6000" b="0" i="0" u="none" strike="noStrike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780000" y="5346700"/>
            <a:ext cx="4699000" cy="495300"/>
          </a:xfrm>
          <a:prstGeom prst="rect">
            <a:avLst/>
          </a:prstGeom>
        </p:spPr>
        <p:txBody>
          <a:bodyPr lIns="0" tIns="28448" rIns="0" bIns="28448" rtlCol="0" anchor="ctr"/>
          <a:lstStyle/>
          <a:p>
            <a:pPr lvl="0" algn="l">
              <a:lnSpc>
                <a:spcPct val="102919"/>
              </a:lnSpc>
            </a:pP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핵심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기술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68800" y="5575300"/>
            <a:ext cx="584200" cy="25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7716500" y="6216650"/>
            <a:ext cx="46863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YOLOv11 Pose Estimation</a:t>
            </a: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Edge AI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경량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모델</a:t>
            </a:r>
            <a:endParaRPr lang="en-US" sz="24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ST-GCN + Physics Rescue</a:t>
            </a: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- 3초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이내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알림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시스템</a:t>
            </a:r>
            <a:endParaRPr lang="en-US" sz="24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816100" y="8864600"/>
            <a:ext cx="1358900" cy="1066800"/>
          </a:xfrm>
          <a:prstGeom prst="rect">
            <a:avLst/>
          </a:prstGeom>
        </p:spPr>
        <p:txBody>
          <a:bodyPr lIns="0" tIns="133350" rIns="0" bIns="133350" rtlCol="0" anchor="ctr"/>
          <a:lstStyle/>
          <a:p>
            <a:pPr lvl="0" algn="ctr">
              <a:lnSpc>
                <a:spcPct val="87149"/>
              </a:lnSpc>
            </a:pPr>
            <a:r>
              <a:rPr lang="en-US" sz="6000" b="0" i="0" u="none" strike="noStrike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784600" y="9144000"/>
            <a:ext cx="4699000" cy="495300"/>
          </a:xfrm>
          <a:prstGeom prst="rect">
            <a:avLst/>
          </a:prstGeom>
        </p:spPr>
        <p:txBody>
          <a:bodyPr lIns="0" tIns="28448" rIns="0" bIns="28448" rtlCol="0" anchor="ctr"/>
          <a:lstStyle/>
          <a:p>
            <a:pPr lvl="0" algn="l">
              <a:lnSpc>
                <a:spcPct val="102919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개인 맞춤형 서비스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3400" y="9385300"/>
            <a:ext cx="584200" cy="254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3784600" y="10236200"/>
            <a:ext cx="46863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사용자 프로필 기반 설정</a:t>
            </a: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가족 알림 연동</a:t>
            </a: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실시간 대시보드</a:t>
            </a: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주간 건강 트렌드 분석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50300" y="8864600"/>
            <a:ext cx="1435100" cy="1066800"/>
          </a:xfrm>
          <a:prstGeom prst="rect">
            <a:avLst/>
          </a:prstGeom>
        </p:spPr>
        <p:txBody>
          <a:bodyPr lIns="0" tIns="133350" rIns="0" bIns="133350" rtlCol="0" anchor="ctr"/>
          <a:lstStyle/>
          <a:p>
            <a:pPr lvl="0" algn="ctr">
              <a:lnSpc>
                <a:spcPct val="87149"/>
              </a:lnSpc>
            </a:pPr>
            <a:r>
              <a:rPr lang="en-US" sz="6000" b="0" i="0" u="none" strike="noStrike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05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782300" y="9144000"/>
            <a:ext cx="4699000" cy="495300"/>
          </a:xfrm>
          <a:prstGeom prst="rect">
            <a:avLst/>
          </a:prstGeom>
        </p:spPr>
        <p:txBody>
          <a:bodyPr lIns="0" tIns="28448" rIns="0" bIns="28448" rtlCol="0" anchor="ctr"/>
          <a:lstStyle/>
          <a:p>
            <a:pPr lvl="0" algn="l">
              <a:lnSpc>
                <a:spcPct val="102919"/>
              </a:lnSpc>
            </a:pP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성능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ko-KR" altLang="en-US" sz="2800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개선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1100" y="9385300"/>
            <a:ext cx="584200" cy="254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0782300" y="10236200"/>
            <a:ext cx="46863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낙상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감지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정확도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지표</a:t>
            </a:r>
            <a:endParaRPr lang="en-US" sz="24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데이터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수집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및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시각화</a:t>
            </a:r>
            <a:endParaRPr lang="en-US" sz="24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실험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결과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분석</a:t>
            </a:r>
            <a:endParaRPr lang="en-US" sz="24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5798800" y="8864600"/>
            <a:ext cx="1308100" cy="1066800"/>
          </a:xfrm>
          <a:prstGeom prst="rect">
            <a:avLst/>
          </a:prstGeom>
        </p:spPr>
        <p:txBody>
          <a:bodyPr lIns="0" tIns="133350" rIns="0" bIns="133350" rtlCol="0" anchor="ctr"/>
          <a:lstStyle/>
          <a:p>
            <a:pPr lvl="0" algn="ctr">
              <a:lnSpc>
                <a:spcPct val="87149"/>
              </a:lnSpc>
            </a:pPr>
            <a:r>
              <a:rPr lang="en-US" sz="6000" b="0" i="0" u="none" strike="noStrike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06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780000" y="9144000"/>
            <a:ext cx="4699000" cy="495300"/>
          </a:xfrm>
          <a:prstGeom prst="rect">
            <a:avLst/>
          </a:prstGeom>
        </p:spPr>
        <p:txBody>
          <a:bodyPr lIns="0" tIns="28448" rIns="0" bIns="28448" rtlCol="0" anchor="ctr"/>
          <a:lstStyle/>
          <a:p>
            <a:pPr lvl="0" algn="l">
              <a:lnSpc>
                <a:spcPct val="102919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기대 효과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68800" y="9385300"/>
            <a:ext cx="584200" cy="254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7780000" y="10236200"/>
            <a:ext cx="46863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낙상</a:t>
            </a:r>
            <a:r>
              <a:rPr lang="ko-KR" alt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ko-KR" alt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오탐률</a:t>
            </a:r>
            <a:r>
              <a:rPr lang="ko-KR" alt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감소 </a:t>
            </a:r>
            <a:endParaRPr lang="en-US" sz="24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발견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시간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단축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(1시간→3초)</a:t>
            </a:r>
          </a:p>
          <a:p>
            <a:pPr lvl="0" algn="l">
              <a:lnSpc>
                <a:spcPct val="116199"/>
              </a:lnSpc>
            </a:pP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독립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생활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기간</a:t>
            </a:r>
            <a:r>
              <a:rPr lang="en-US" sz="24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4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연장</a:t>
            </a:r>
            <a:endParaRPr lang="en-US" sz="24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17721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>
            <a:off x="-7505700" y="7124700"/>
            <a:ext cx="16713200" cy="14211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077200" y="5924550"/>
            <a:ext cx="8382000" cy="1866900"/>
          </a:xfrm>
          <a:prstGeom prst="rect">
            <a:avLst/>
          </a:prstGeom>
        </p:spPr>
        <p:txBody>
          <a:bodyPr lIns="0" tIns="133773" rIns="0" bIns="133773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0533" b="0" i="0" u="none" strike="noStrike" spc="-4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데모 영상 시연</a:t>
            </a:r>
            <a:endParaRPr lang="en-US" sz="10533" b="0" i="0" u="none" strike="noStrike" spc="-4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6159500"/>
            <a:ext cx="292100" cy="292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6705600"/>
            <a:ext cx="292100" cy="292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7264400"/>
            <a:ext cx="292100" cy="292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21000"/>
          </a:blip>
          <a:stretch>
            <a:fillRect/>
          </a:stretch>
        </p:blipFill>
        <p:spPr>
          <a:xfrm>
            <a:off x="-254000" y="1333500"/>
            <a:ext cx="248793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3300" y="419100"/>
            <a:ext cx="2324100" cy="6985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31900" y="596900"/>
            <a:ext cx="1841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1866" b="1" i="0" u="none" strike="noStrike" spc="-10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쵸코하임 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C459A5-6901-E955-4860-2D589B51A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62EABD3-6556-17BD-26B3-9DC51008BD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4177" y="-69850"/>
            <a:ext cx="24384000" cy="13716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694BE6A-6FCF-EA2B-2E8D-E0FAFBCFC30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>
            <a:off x="-7505700" y="7124700"/>
            <a:ext cx="16713200" cy="142113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6211B136-4099-B479-DDC2-459B3CDDF368}"/>
              </a:ext>
            </a:extLst>
          </p:cNvPr>
          <p:cNvSpPr txBox="1"/>
          <p:nvPr/>
        </p:nvSpPr>
        <p:spPr>
          <a:xfrm>
            <a:off x="3340100" y="2146300"/>
            <a:ext cx="18973800" cy="1866900"/>
          </a:xfrm>
          <a:prstGeom prst="rect">
            <a:avLst/>
          </a:prstGeom>
        </p:spPr>
        <p:txBody>
          <a:bodyPr lIns="0" tIns="133773" rIns="0" bIns="133773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0533" b="0" i="0" u="none" strike="noStrike" spc="-4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연구 배경 및 필요성</a:t>
            </a:r>
            <a:endParaRPr lang="en-US" sz="10533" b="0" i="0" u="none" strike="noStrike" spc="-4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155837D1-55F2-E21E-C216-60D1D582F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6159500"/>
            <a:ext cx="292100" cy="292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A145FAF-0543-FE29-1113-7E35C69457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6705600"/>
            <a:ext cx="292100" cy="2921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4B1E448A-04B9-58EF-22ED-CBBFEE4CDA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7264400"/>
            <a:ext cx="292100" cy="2921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7C5D15DE-7D6C-E297-AC55-AE45966803C0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1000"/>
          </a:blip>
          <a:stretch>
            <a:fillRect/>
          </a:stretch>
        </p:blipFill>
        <p:spPr>
          <a:xfrm>
            <a:off x="-254000" y="1333500"/>
            <a:ext cx="24879300" cy="254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B5C6F6A8-9ACD-3B29-0B21-EAB8D6C4A9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300" y="419100"/>
            <a:ext cx="2324100" cy="6985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840E4D5D-156A-082F-235F-AF4F9D8D0B69}"/>
              </a:ext>
            </a:extLst>
          </p:cNvPr>
          <p:cNvSpPr txBox="1"/>
          <p:nvPr/>
        </p:nvSpPr>
        <p:spPr>
          <a:xfrm>
            <a:off x="1231900" y="596900"/>
            <a:ext cx="1841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1866" b="1" i="0" u="none" strike="noStrike" spc="-100" dirty="0" err="1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쵸코하임</a:t>
            </a:r>
            <a:r>
              <a:rPr lang="en-US" sz="1866" b="1" i="0" u="none" strike="noStrike" spc="-100" dirty="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 </a:t>
            </a:r>
            <a:r>
              <a:rPr lang="en-US" sz="1866" b="1" i="0" u="none" strike="noStrike" spc="-100" dirty="0" err="1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조</a:t>
            </a:r>
            <a:endParaRPr lang="en-US" sz="1866" b="1" i="0" u="none" strike="noStrike" spc="-100" dirty="0">
              <a:solidFill>
                <a:srgbClr val="000000"/>
              </a:solidFill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80FFEFE-72DD-F008-3292-AC3FB7D37F2E}"/>
              </a:ext>
            </a:extLst>
          </p:cNvPr>
          <p:cNvSpPr txBox="1"/>
          <p:nvPr/>
        </p:nvSpPr>
        <p:spPr>
          <a:xfrm>
            <a:off x="3257550" y="5639981"/>
            <a:ext cx="6007100" cy="3340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</a:t>
            </a:r>
            <a:r>
              <a:rPr lang="ko-KR" alt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altLang="ko-KR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65</a:t>
            </a:r>
            <a:r>
              <a:rPr lang="ko-KR" alt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세 이상 노인의 낙상 발생률이 </a:t>
            </a:r>
            <a:r>
              <a:rPr lang="en-US" altLang="ko-KR" sz="2800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2</a:t>
            </a:r>
            <a:r>
              <a:rPr lang="en-US" altLang="ko-KR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0%</a:t>
            </a:r>
            <a:r>
              <a:rPr lang="ko-KR" alt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에</a:t>
            </a:r>
            <a:r>
              <a:rPr lang="ko-KR" alt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달함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ctr">
              <a:lnSpc>
                <a:spcPct val="132800"/>
              </a:lnSpc>
            </a:pPr>
            <a:r>
              <a:rPr lang="en-US" altLang="ko-KR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</a:t>
            </a:r>
            <a:r>
              <a:rPr lang="ko-KR" alt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낙상은 노인의 주요 부상 원인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marL="457200" lvl="0" indent="-457200" algn="ctr">
              <a:lnSpc>
                <a:spcPct val="132800"/>
              </a:lnSpc>
              <a:buFontTx/>
              <a:buChar char="-"/>
            </a:pPr>
            <a:r>
              <a:rPr lang="ko-KR" altLang="en-US" sz="2800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독거 노인 증가로 인한 즉각적 대응 어려움</a:t>
            </a:r>
            <a:endParaRPr lang="en-US" altLang="ko-KR" sz="2800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marL="457200" lvl="0" indent="-457200" algn="ctr">
              <a:lnSpc>
                <a:spcPct val="132800"/>
              </a:lnSpc>
              <a:buFontTx/>
              <a:buChar char="-"/>
            </a:pPr>
            <a:r>
              <a:rPr lang="ko-KR" alt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낙상 후 신속한 발견과 대응이 </a:t>
            </a:r>
            <a:r>
              <a:rPr lang="ko-KR" alt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생존률</a:t>
            </a:r>
            <a:r>
              <a:rPr lang="ko-KR" alt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향상에 중요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0226AB1-0AB3-3DF8-9182-C86CFD9D11A1}"/>
              </a:ext>
            </a:extLst>
          </p:cNvPr>
          <p:cNvSpPr txBox="1"/>
          <p:nvPr/>
        </p:nvSpPr>
        <p:spPr>
          <a:xfrm>
            <a:off x="3276600" y="4800600"/>
            <a:ext cx="5969000" cy="10922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altLang="ko-KR" sz="3200" b="0" i="0" u="none" strike="noStrike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65</a:t>
            </a:r>
            <a:r>
              <a:rPr lang="ko-KR" altLang="en-US" sz="3200" b="0" i="0" u="none" strike="noStrike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세 이상 낙상 발생률 </a:t>
            </a:r>
            <a:r>
              <a:rPr lang="en-US" altLang="ko-KR" sz="3200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2</a:t>
            </a:r>
            <a:r>
              <a:rPr lang="en-US" altLang="ko-KR" sz="3200" b="0" i="0" u="none" strike="noStrike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0%</a:t>
            </a:r>
            <a:r>
              <a:rPr lang="ko-KR" altLang="en-US" sz="3200" b="0" i="0" u="none" strike="noStrike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 </a:t>
            </a:r>
            <a:endParaRPr lang="en-US" altLang="ko-KR" sz="3200" spc="-100" dirty="0">
              <a:solidFill>
                <a:srgbClr val="262626"/>
              </a:solidFill>
              <a:latin typeface="Gmarket Sans Bold"/>
              <a:ea typeface="Gmarket Sans Bold"/>
              <a:cs typeface="Gmarket Sans Bold"/>
            </a:endParaRPr>
          </a:p>
          <a:p>
            <a:pPr lvl="0" algn="ctr">
              <a:lnSpc>
                <a:spcPct val="107899"/>
              </a:lnSpc>
            </a:pPr>
            <a:endParaRPr lang="en-US" altLang="ko-KR" sz="3200" b="0" i="0" u="none" strike="noStrike" spc="-100" dirty="0">
              <a:solidFill>
                <a:srgbClr val="262626"/>
              </a:solidFill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363EBA9-7D7E-D6E4-486C-1A767E973A4E}"/>
              </a:ext>
            </a:extLst>
          </p:cNvPr>
          <p:cNvSpPr txBox="1"/>
          <p:nvPr/>
        </p:nvSpPr>
        <p:spPr>
          <a:xfrm>
            <a:off x="9601200" y="5613400"/>
            <a:ext cx="6413500" cy="561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ko-KR" alt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독거 노인 가구 수 지속적 증가 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en-US" altLang="ko-KR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24</a:t>
            </a:r>
            <a:r>
              <a:rPr lang="ko-KR" altLang="en-US" sz="2800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시간 돌봄 인력 부족 및 비용 문제 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marL="457200" lvl="0" indent="-457200" algn="ctr">
              <a:lnSpc>
                <a:spcPct val="132800"/>
              </a:lnSpc>
              <a:buFontTx/>
              <a:buChar char="-"/>
            </a:pPr>
            <a:r>
              <a:rPr lang="ko-KR" alt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낙상 발생 시 </a:t>
            </a:r>
            <a:r>
              <a:rPr lang="en-US" altLang="ko-KR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1</a:t>
            </a:r>
            <a:r>
              <a:rPr lang="ko-KR" alt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altLang="ko-KR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–</a:t>
            </a:r>
            <a:r>
              <a:rPr lang="ko-KR" alt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altLang="ko-KR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2</a:t>
            </a:r>
            <a:r>
              <a:rPr lang="ko-KR" alt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시간 이상 방치될 위험</a:t>
            </a:r>
            <a:endParaRPr lang="en-US" altLang="ko-KR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ko-KR" alt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실시간 모니터링 시스템 필요성 대두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5ADB35F-31E1-3A4A-1474-8B4D6268A9A6}"/>
              </a:ext>
            </a:extLst>
          </p:cNvPr>
          <p:cNvSpPr txBox="1"/>
          <p:nvPr/>
        </p:nvSpPr>
        <p:spPr>
          <a:xfrm>
            <a:off x="9613900" y="4800600"/>
            <a:ext cx="59690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ko-KR" altLang="en-US" sz="3200" b="0" i="0" u="none" strike="noStrike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독거 노인 증가 </a:t>
            </a:r>
            <a:r>
              <a:rPr lang="ko-KR" altLang="en-US" sz="3200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추세</a:t>
            </a:r>
            <a:endParaRPr lang="en-US" sz="3200" b="0" i="0" u="none" strike="noStrike" spc="-100" dirty="0">
              <a:solidFill>
                <a:srgbClr val="262626"/>
              </a:solidFill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4D90835-A58B-302D-7F30-89370B441146}"/>
              </a:ext>
            </a:extLst>
          </p:cNvPr>
          <p:cNvSpPr txBox="1"/>
          <p:nvPr/>
        </p:nvSpPr>
        <p:spPr>
          <a:xfrm>
            <a:off x="15951200" y="5613400"/>
            <a:ext cx="5994400" cy="561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</a:t>
            </a:r>
            <a:r>
              <a:rPr lang="ko-KR" alt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불편한 착용감으로 인한 낮은 사용률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ko-KR" alt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배터리 충전 및 관리의 어려움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ctr">
              <a:lnSpc>
                <a:spcPct val="132800"/>
              </a:lnSpc>
            </a:pPr>
            <a:r>
              <a:rPr lang="en-US" altLang="ko-KR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</a:t>
            </a:r>
            <a:r>
              <a:rPr lang="ko-KR" alt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착용 거부 시 모니터링 불가능</a:t>
            </a:r>
            <a:endParaRPr lang="en-US" altLang="ko-KR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ctr">
              <a:lnSpc>
                <a:spcPct val="132800"/>
              </a:lnSpc>
            </a:pPr>
            <a:r>
              <a:rPr lang="en-US" altLang="ko-KR" sz="2800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</a:t>
            </a:r>
            <a:r>
              <a:rPr lang="ko-KR" altLang="en-US" sz="2800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카메라 기반 </a:t>
            </a:r>
            <a:r>
              <a:rPr lang="ko-KR" altLang="en-US" sz="2800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비접촉</a:t>
            </a:r>
            <a:r>
              <a:rPr lang="ko-KR" altLang="en-US" sz="2800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모니터링 방식이 대안으로 부상</a:t>
            </a:r>
            <a:endParaRPr lang="en-US" altLang="ko-KR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5E233A3-C8FB-080F-13BB-F6456860548D}"/>
              </a:ext>
            </a:extLst>
          </p:cNvPr>
          <p:cNvSpPr txBox="1"/>
          <p:nvPr/>
        </p:nvSpPr>
        <p:spPr>
          <a:xfrm>
            <a:off x="15963900" y="4800600"/>
            <a:ext cx="59690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ko-KR" altLang="en-US" sz="3200" b="0" i="0" u="none" strike="noStrike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기존 웨어러블 기기의 한계</a:t>
            </a:r>
            <a:endParaRPr lang="en-US" sz="3200" b="0" i="0" u="none" strike="noStrike" spc="-100" dirty="0">
              <a:solidFill>
                <a:srgbClr val="262626"/>
              </a:solidFill>
              <a:latin typeface="Gmarket Sans Bold"/>
              <a:ea typeface="Gmarket Sans Bold"/>
              <a:cs typeface="Gmarket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1867766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>
            <a:off x="-7505700" y="7124700"/>
            <a:ext cx="16713200" cy="14211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20950" y="1619250"/>
            <a:ext cx="18973800" cy="1866900"/>
          </a:xfrm>
          <a:prstGeom prst="rect">
            <a:avLst/>
          </a:prstGeom>
        </p:spPr>
        <p:txBody>
          <a:bodyPr lIns="0" tIns="133773" rIns="0" bIns="133773" rtlCol="0" anchor="ctr"/>
          <a:lstStyle/>
          <a:p>
            <a:pPr lvl="0" algn="l">
              <a:lnSpc>
                <a:spcPct val="99600"/>
              </a:lnSpc>
            </a:pPr>
            <a:r>
              <a:rPr lang="en-US" sz="10533" b="0" i="0" u="none" strike="noStrike" spc="-4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시스템</a:t>
            </a:r>
            <a:r>
              <a:rPr lang="en-US" sz="10533" b="0" i="0" u="none" strike="noStrike" spc="-4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10533" b="0" i="0" u="none" strike="noStrike" spc="-4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개요</a:t>
            </a:r>
            <a:endParaRPr lang="en-US" sz="10533" b="0" i="0" u="none" strike="noStrike" spc="-4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6159500"/>
            <a:ext cx="292100" cy="292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6705600"/>
            <a:ext cx="292100" cy="292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7264400"/>
            <a:ext cx="292100" cy="292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alphaModFix amt="21000"/>
          </a:blip>
          <a:stretch>
            <a:fillRect/>
          </a:stretch>
        </p:blipFill>
        <p:spPr>
          <a:xfrm>
            <a:off x="-254000" y="1333500"/>
            <a:ext cx="248793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300" y="419100"/>
            <a:ext cx="2324100" cy="6985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828800" y="5880100"/>
            <a:ext cx="7313723" cy="448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CCTV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카메라를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통한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비접촉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모니터링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YOLOv11n-pose로 17개 COCO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키포인트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추출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ST-GCN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모델을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통한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낙상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확률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예측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Physics Rescue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필터로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Grey zone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처리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501161" y="5067300"/>
            <a:ext cx="59690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 dirty="0" err="1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카메라</a:t>
            </a:r>
            <a:r>
              <a:rPr lang="en-US" sz="3200" b="0" i="0" u="none" strike="noStrike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 </a:t>
            </a:r>
            <a:r>
              <a:rPr lang="en-US" sz="3200" b="0" i="0" u="none" strike="noStrike" spc="-100" dirty="0" err="1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기반</a:t>
            </a:r>
            <a:r>
              <a:rPr lang="en-US" sz="3200" b="0" i="0" u="none" strike="noStrike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 </a:t>
            </a:r>
            <a:r>
              <a:rPr lang="en-US" sz="3200" b="0" i="0" u="none" strike="noStrike" spc="-100" dirty="0" err="1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낙상</a:t>
            </a:r>
            <a:r>
              <a:rPr lang="en-US" sz="3200" b="0" i="0" u="none" strike="noStrike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 </a:t>
            </a:r>
            <a:r>
              <a:rPr lang="en-US" sz="3200" b="0" i="0" u="none" strike="noStrike" spc="-100" dirty="0" err="1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감지</a:t>
            </a:r>
            <a:endParaRPr lang="en-US" sz="3200" b="0" i="0" u="none" strike="noStrike" spc="-100" dirty="0">
              <a:solidFill>
                <a:srgbClr val="262626"/>
              </a:solidFill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396522" y="5880100"/>
            <a:ext cx="6414977" cy="3911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Edge AI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기반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실시간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처리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(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약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19 FPS)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- 30프레임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슬라이딩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윈도우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방식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Jetson Orin Nano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Super에서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구동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MJPEG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스트리밍으로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실시간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영상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제공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409223" y="5067300"/>
            <a:ext cx="59690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24시간 실시간 모니터링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304585" y="5880100"/>
            <a:ext cx="5994400" cy="276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낙상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감지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시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알림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발송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Push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알림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, SMS, KakaoTalk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지원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보호자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및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관리자에게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즉시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통보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낙상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발생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위치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및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시간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정보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제공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6317285" y="5067300"/>
            <a:ext cx="59690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3단계 </a:t>
            </a:r>
            <a:r>
              <a:rPr lang="en-US" sz="3200" b="0" i="0" u="none" strike="noStrike" spc="-100" dirty="0" err="1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알림</a:t>
            </a:r>
            <a:r>
              <a:rPr lang="en-US" sz="3200" b="0" i="0" u="none" strike="noStrike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 </a:t>
            </a:r>
            <a:r>
              <a:rPr lang="en-US" sz="3200" b="0" i="0" u="none" strike="noStrike" spc="-100" dirty="0" err="1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시스템</a:t>
            </a:r>
            <a:endParaRPr lang="en-US" sz="3200" b="0" i="0" u="none" strike="noStrike" spc="-100" dirty="0">
              <a:solidFill>
                <a:srgbClr val="262626"/>
              </a:solidFill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B41FCC08-F902-A00B-AB31-2BA9A04F6616}"/>
              </a:ext>
            </a:extLst>
          </p:cNvPr>
          <p:cNvSpPr txBox="1"/>
          <p:nvPr/>
        </p:nvSpPr>
        <p:spPr>
          <a:xfrm>
            <a:off x="1231900" y="596900"/>
            <a:ext cx="1841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1866" b="1" i="0" u="none" strike="noStrike" spc="-100" dirty="0" err="1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쵸코하임</a:t>
            </a:r>
            <a:r>
              <a:rPr lang="en-US" sz="1866" b="1" i="0" u="none" strike="noStrike" spc="-100" dirty="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 </a:t>
            </a:r>
            <a:r>
              <a:rPr lang="en-US" sz="1866" b="1" i="0" u="none" strike="noStrike" spc="-100" dirty="0" err="1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조</a:t>
            </a:r>
            <a:endParaRPr lang="en-US" sz="1866" b="1" i="0" u="none" strike="noStrike" spc="-100" dirty="0">
              <a:solidFill>
                <a:srgbClr val="000000"/>
              </a:solidFill>
              <a:latin typeface="Gmarket Sans Bold"/>
              <a:ea typeface="Gmarket Sans Bold"/>
              <a:cs typeface="Gmarket Sans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219700"/>
            <a:ext cx="8915400" cy="20447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616200" y="1841500"/>
            <a:ext cx="8089900" cy="881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7700" y="5219700"/>
            <a:ext cx="8915400" cy="2044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8001000" y="1841500"/>
            <a:ext cx="19608800" cy="881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3035300" y="8966200"/>
            <a:ext cx="7378700" cy="2616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3669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스마트워치: 낙상 후 감지만 가능, 착용 저항 높음</a:t>
            </a:r>
          </a:p>
          <a:p>
            <a:pPr lvl="0" algn="l">
              <a:lnSpc>
                <a:spcPct val="123669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가정 CCTV: 녹화 전용·AI·알림 부재</a:t>
            </a:r>
          </a:p>
          <a:p>
            <a:pPr lvl="0" algn="l">
              <a:lnSpc>
                <a:spcPct val="123669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병원 재활: 주1-2회 방문, 일일 모니터링 불가</a:t>
            </a:r>
          </a:p>
          <a:p>
            <a:pPr lvl="0" algn="l">
              <a:lnSpc>
                <a:spcPct val="123669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감지 매트: 지점 한정·휴대 불가·재활 기능 없음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 rot="5400000">
            <a:off x="6121400" y="8140700"/>
            <a:ext cx="10922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 rot="5400000">
            <a:off x="17259300" y="8140700"/>
            <a:ext cx="10922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34800" y="5994400"/>
            <a:ext cx="1003300" cy="19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11734800" y="6311900"/>
            <a:ext cx="1003300" cy="190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971800" y="5956300"/>
            <a:ext cx="7404100" cy="571500"/>
          </a:xfrm>
          <a:prstGeom prst="rect">
            <a:avLst/>
          </a:prstGeom>
        </p:spPr>
        <p:txBody>
          <a:bodyPr lIns="0" tIns="20320" rIns="0" bIns="20320" rtlCol="0" anchor="ctr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기존 솔루션의 한계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09700" y="5956300"/>
            <a:ext cx="7404100" cy="571500"/>
          </a:xfrm>
          <a:prstGeom prst="rect">
            <a:avLst/>
          </a:prstGeom>
        </p:spPr>
        <p:txBody>
          <a:bodyPr lIns="0" tIns="20320" rIns="0" bIns="20320" rtlCol="0" anchor="ctr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MobiCare의 혁신적 개선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79500" y="8985250"/>
            <a:ext cx="8039100" cy="2616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3669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통합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솔루션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: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예측→예방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,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즉시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감지→알림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,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재활→회복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l">
              <a:lnSpc>
                <a:spcPct val="123669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장비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: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일반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카메라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+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스마트폰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(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가족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앱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)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만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필요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l">
              <a:lnSpc>
                <a:spcPct val="123669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추가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센서·웨어러블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불필요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l">
              <a:lnSpc>
                <a:spcPct val="123669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전신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움직임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추적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(17관절)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alphaModFix amt="67000"/>
          </a:blip>
          <a:stretch>
            <a:fillRect/>
          </a:stretch>
        </p:blipFill>
        <p:spPr>
          <a:xfrm>
            <a:off x="-7505700" y="7124700"/>
            <a:ext cx="16713200" cy="142113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882900" y="2235200"/>
            <a:ext cx="18973800" cy="1866900"/>
          </a:xfrm>
          <a:prstGeom prst="rect">
            <a:avLst/>
          </a:prstGeom>
        </p:spPr>
        <p:txBody>
          <a:bodyPr lIns="0" tIns="133773" rIns="0" bIns="133773" rtlCol="0" anchor="ctr"/>
          <a:lstStyle/>
          <a:p>
            <a:pPr lvl="0" algn="l">
              <a:lnSpc>
                <a:spcPct val="99600"/>
              </a:lnSpc>
            </a:pPr>
            <a:r>
              <a:rPr lang="en-US" sz="10533" b="0" i="0" u="none" strike="noStrike" spc="-4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기존 솔루션의 한계와 개선점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" y="6159500"/>
            <a:ext cx="292100" cy="292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6705600"/>
            <a:ext cx="292100" cy="2921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7264400"/>
            <a:ext cx="292100" cy="292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alphaModFix amt="21000"/>
          </a:blip>
          <a:stretch>
            <a:fillRect/>
          </a:stretch>
        </p:blipFill>
        <p:spPr>
          <a:xfrm>
            <a:off x="-254000" y="1333500"/>
            <a:ext cx="248793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3300" y="419100"/>
            <a:ext cx="2324100" cy="6985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231900" y="596900"/>
            <a:ext cx="1841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1866" b="1" i="0" u="none" strike="noStrike" spc="-10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쵸코하임 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>
            <a:off x="-8356600" y="-6756400"/>
            <a:ext cx="16713200" cy="14211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6159500"/>
            <a:ext cx="292100" cy="29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6705600"/>
            <a:ext cx="292100" cy="292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7264400"/>
            <a:ext cx="292100" cy="292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3098800" y="1955800"/>
            <a:ext cx="18935700" cy="1866900"/>
          </a:xfrm>
          <a:prstGeom prst="rect">
            <a:avLst/>
          </a:prstGeom>
        </p:spPr>
        <p:txBody>
          <a:bodyPr lIns="0" tIns="133773" rIns="0" bIns="133773" rtlCol="0" anchor="ctr"/>
          <a:lstStyle/>
          <a:p>
            <a:pPr lvl="0" algn="l">
              <a:lnSpc>
                <a:spcPct val="99600"/>
              </a:lnSpc>
            </a:pPr>
            <a:r>
              <a:rPr lang="en-US" sz="10533" b="0" i="0" u="none" strike="noStrike" spc="-5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핵심 기술 아키텍처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8800" y="4432300"/>
            <a:ext cx="18554700" cy="25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3098800" y="4889500"/>
            <a:ext cx="1168400" cy="635000"/>
          </a:xfrm>
          <a:prstGeom prst="rect">
            <a:avLst/>
          </a:prstGeom>
        </p:spPr>
        <p:txBody>
          <a:bodyPr lIns="0" tIns="80010" rIns="0" bIns="80010" rtlCol="0" anchor="ctr"/>
          <a:lstStyle/>
          <a:p>
            <a:pPr lvl="0" algn="l">
              <a:lnSpc>
                <a:spcPct val="87149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01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2300" y="4889500"/>
            <a:ext cx="3136900" cy="3136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4419600" y="4889500"/>
            <a:ext cx="35560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YOLOv11 Pose Estimation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98800" y="8547100"/>
            <a:ext cx="185674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491200" y="4889500"/>
            <a:ext cx="3136900" cy="3136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491200" y="8991600"/>
            <a:ext cx="3136900" cy="3136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8800" y="12661900"/>
            <a:ext cx="185547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1500" y="12763500"/>
            <a:ext cx="18554700" cy="25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1500" y="4318000"/>
            <a:ext cx="18554700" cy="25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>
            <a:alphaModFix amt="21000"/>
          </a:blip>
          <a:stretch>
            <a:fillRect/>
          </a:stretch>
        </p:blipFill>
        <p:spPr>
          <a:xfrm>
            <a:off x="-254000" y="1333500"/>
            <a:ext cx="24879300" cy="25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4419600" y="6134100"/>
            <a:ext cx="3543300" cy="180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533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- 17개 관절 실시간 추적</a:t>
            </a:r>
          </a:p>
          <a:p>
            <a:pPr lvl="0" algn="l">
              <a:lnSpc>
                <a:spcPct val="116199"/>
              </a:lnSpc>
            </a:pPr>
            <a:r>
              <a:rPr lang="en-US" sz="2533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낙상 패턴 감지</a:t>
            </a:r>
          </a:p>
          <a:p>
            <a:pPr lvl="0" algn="l">
              <a:lnSpc>
                <a:spcPct val="116199"/>
              </a:lnSpc>
            </a:pPr>
            <a:r>
              <a:rPr lang="en-US" sz="2533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Balance Score 산출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3300" y="419100"/>
            <a:ext cx="2324100" cy="6985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231900" y="596900"/>
            <a:ext cx="1841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1866" b="1" i="0" u="none" strike="noStrike" spc="-100" dirty="0" err="1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쵸코하임</a:t>
            </a:r>
            <a:r>
              <a:rPr lang="en-US" sz="1866" b="1" i="0" u="none" strike="noStrike" spc="-100" dirty="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 </a:t>
            </a:r>
            <a:r>
              <a:rPr lang="en-US" sz="1866" b="1" i="0" u="none" strike="noStrike" spc="-100" dirty="0" err="1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조</a:t>
            </a:r>
            <a:endParaRPr lang="en-US" sz="1866" b="1" i="0" u="none" strike="noStrike" spc="-100" dirty="0">
              <a:solidFill>
                <a:srgbClr val="000000"/>
              </a:solidFill>
              <a:latin typeface="Gmarket Sans Bold"/>
              <a:ea typeface="Gmarket Sans Bold"/>
              <a:cs typeface="Gmarket Sans Bold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4">
            <a:alphaModFix amt="49000"/>
          </a:blip>
          <a:stretch>
            <a:fillRect/>
          </a:stretch>
        </p:blipFill>
        <p:spPr>
          <a:xfrm>
            <a:off x="8242300" y="8978900"/>
            <a:ext cx="3136900" cy="3136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42300" y="8978900"/>
            <a:ext cx="3136900" cy="31369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3347700" y="4889500"/>
            <a:ext cx="1168400" cy="635000"/>
          </a:xfrm>
          <a:prstGeom prst="rect">
            <a:avLst/>
          </a:prstGeom>
        </p:spPr>
        <p:txBody>
          <a:bodyPr lIns="0" tIns="80010" rIns="0" bIns="80010" rtlCol="0" anchor="ctr"/>
          <a:lstStyle/>
          <a:p>
            <a:pPr lvl="0" algn="l">
              <a:lnSpc>
                <a:spcPct val="87149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655800" y="4889500"/>
            <a:ext cx="35560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800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ST-GCN + Physics</a:t>
            </a:r>
          </a:p>
          <a:p>
            <a:pPr lvl="0" algn="l">
              <a:lnSpc>
                <a:spcPct val="124499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Rescue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655800" y="6134100"/>
            <a:ext cx="3543300" cy="180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533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en-US" sz="2533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ST-GCN</a:t>
            </a:r>
            <a:r>
              <a:rPr lang="ko-KR" altLang="en-US" sz="2533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으로</a:t>
            </a:r>
            <a:r>
              <a:rPr lang="ko-KR" altLang="en-US" sz="2533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altLang="ko-KR" sz="2533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1</a:t>
            </a:r>
            <a:r>
              <a:rPr lang="ko-KR" altLang="en-US" sz="2533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차 검증</a:t>
            </a:r>
            <a:endParaRPr lang="en-US" sz="2533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l">
              <a:lnSpc>
                <a:spcPct val="116199"/>
              </a:lnSpc>
            </a:pPr>
            <a:r>
              <a:rPr lang="en-US" sz="2533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ko-KR" altLang="en-US" sz="2533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낙상과 </a:t>
            </a:r>
            <a:r>
              <a:rPr lang="ko-KR" altLang="en-US" sz="2533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비낙상의</a:t>
            </a:r>
            <a:r>
              <a:rPr lang="ko-KR" altLang="en-US" sz="2533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경계</a:t>
            </a:r>
            <a:r>
              <a:rPr lang="en-US" altLang="ko-KR" sz="2533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,</a:t>
            </a:r>
            <a:r>
              <a:rPr lang="ko-KR" altLang="en-US" sz="2533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altLang="ko-KR" sz="2533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Grey zone</a:t>
            </a:r>
            <a:r>
              <a:rPr lang="ko-KR" altLang="en-US" sz="2533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에서의 판별을 보조하는 </a:t>
            </a:r>
            <a:r>
              <a:rPr lang="en-US" altLang="ko-KR" sz="2533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Physical Rescue</a:t>
            </a:r>
            <a:endParaRPr lang="en-US" sz="2533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3098800" y="8991600"/>
            <a:ext cx="1168400" cy="635000"/>
          </a:xfrm>
          <a:prstGeom prst="rect">
            <a:avLst/>
          </a:prstGeom>
        </p:spPr>
        <p:txBody>
          <a:bodyPr lIns="0" tIns="80010" rIns="0" bIns="80010" rtlCol="0" anchor="ctr"/>
          <a:lstStyle/>
          <a:p>
            <a:pPr lvl="0" algn="l">
              <a:lnSpc>
                <a:spcPct val="87149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02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419600" y="8991600"/>
            <a:ext cx="35560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Edge AI 경량 모델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419600" y="10236200"/>
            <a:ext cx="3543300" cy="180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533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엣지 디바이스 실행</a:t>
            </a:r>
          </a:p>
          <a:p>
            <a:pPr lvl="0" algn="l">
              <a:lnSpc>
                <a:spcPct val="116199"/>
              </a:lnSpc>
            </a:pPr>
            <a:r>
              <a:rPr lang="en-US" sz="2533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저지연·클라우드 불필요</a:t>
            </a:r>
          </a:p>
          <a:p>
            <a:pPr lvl="0" algn="l">
              <a:lnSpc>
                <a:spcPct val="116199"/>
              </a:lnSpc>
            </a:pPr>
            <a:r>
              <a:rPr lang="en-US" sz="2533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프라이버시 보호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347700" y="8991600"/>
            <a:ext cx="1168400" cy="635000"/>
          </a:xfrm>
          <a:prstGeom prst="rect">
            <a:avLst/>
          </a:prstGeom>
        </p:spPr>
        <p:txBody>
          <a:bodyPr lIns="0" tIns="80010" rIns="0" bIns="80010" rtlCol="0" anchor="ctr"/>
          <a:lstStyle/>
          <a:p>
            <a:pPr lvl="0" algn="l">
              <a:lnSpc>
                <a:spcPct val="87149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04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655800" y="8991600"/>
            <a:ext cx="35560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즉각 알림 시스템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655800" y="10236200"/>
            <a:ext cx="3543300" cy="180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533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- 3초 내 알림 전송</a:t>
            </a:r>
          </a:p>
          <a:p>
            <a:pPr lvl="0" algn="l">
              <a:lnSpc>
                <a:spcPct val="116199"/>
              </a:lnSpc>
            </a:pPr>
            <a:r>
              <a:rPr lang="en-US" sz="2533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Push / SMS / KakaoTalk</a:t>
            </a:r>
          </a:p>
          <a:p>
            <a:pPr lvl="0" algn="l">
              <a:lnSpc>
                <a:spcPct val="116199"/>
              </a:lnSpc>
            </a:pPr>
            <a:r>
              <a:rPr lang="en-US" sz="2533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가족 앱 연동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>
            <a:off x="-8356600" y="-6756400"/>
            <a:ext cx="16713200" cy="14211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6159500"/>
            <a:ext cx="292100" cy="29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6705600"/>
            <a:ext cx="292100" cy="292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7264400"/>
            <a:ext cx="292100" cy="292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854200" y="2133600"/>
            <a:ext cx="20218400" cy="1866900"/>
          </a:xfrm>
          <a:prstGeom prst="rect">
            <a:avLst/>
          </a:prstGeom>
        </p:spPr>
        <p:txBody>
          <a:bodyPr lIns="0" tIns="133773" rIns="0" bIns="133773" rtlCol="0" anchor="ctr"/>
          <a:lstStyle/>
          <a:p>
            <a:pPr lvl="0" algn="l">
              <a:lnSpc>
                <a:spcPct val="99600"/>
              </a:lnSpc>
            </a:pPr>
            <a:r>
              <a:rPr lang="en-US" sz="10533" b="0" i="0" u="none" strike="noStrike" spc="-5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핵심 아키텍처 (1단계)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4200" y="4495800"/>
            <a:ext cx="206883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alphaModFix amt="21000"/>
          </a:blip>
          <a:stretch>
            <a:fillRect/>
          </a:stretch>
        </p:blipFill>
        <p:spPr>
          <a:xfrm>
            <a:off x="-254000" y="1333500"/>
            <a:ext cx="248793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300" y="419100"/>
            <a:ext cx="2324100" cy="698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4200" y="4914900"/>
            <a:ext cx="4953000" cy="3136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9300" y="4914900"/>
            <a:ext cx="4953000" cy="3136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44400" y="4914900"/>
            <a:ext cx="4953000" cy="3136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76800" y="4914900"/>
            <a:ext cx="4953000" cy="31369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790700" y="9779000"/>
            <a:ext cx="5067300" cy="220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- 17개 COCO 키포인트 추출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(x, y, confidence) 좌표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conf=0.1 낮은 임계값 설정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- 30 FPS 실시간 처리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03400" y="8432800"/>
            <a:ext cx="5054600" cy="10922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YOLOv11n-pose 키포인트 추출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35800" y="9779000"/>
            <a:ext cx="5067300" cy="276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윈도우 크기: 30프레임 (약 1.6초)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Stride: 15프레임 (약 0.8초)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실시간 처리 속도: 약 19 FPS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연속적인 동작 패턴 분석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48500" y="8966200"/>
            <a:ext cx="50546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30프레임 슬라이딩 윈도우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280900" y="9779000"/>
            <a:ext cx="5067300" cy="276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- 9블록 구조 (64→128→256 채널)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- 3.1M 파라미터, 12.5MB 모델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낙상 확률 p 출력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p≥0.55: 낙상 확정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293600" y="8966200"/>
            <a:ext cx="50546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ST-GCN 낙상 확률 예측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449800" y="9779000"/>
            <a:ext cx="5219700" cy="276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p≥0.55: FALL (확정)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- 0.50≤p&lt;0.55: Physics 필터 작동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p&lt;0.50: NO-FALL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불확실 구간은 2단계로 전달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538700" y="8966200"/>
            <a:ext cx="50546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1단계 판정 기준</a:t>
            </a: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DE0C1345-FE0A-6447-FDF8-1E1EA4BF9D5A}"/>
              </a:ext>
            </a:extLst>
          </p:cNvPr>
          <p:cNvSpPr txBox="1"/>
          <p:nvPr/>
        </p:nvSpPr>
        <p:spPr>
          <a:xfrm>
            <a:off x="1231900" y="596900"/>
            <a:ext cx="1841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1866" b="1" i="0" u="none" strike="noStrike" spc="-100" dirty="0" err="1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쵸코하임</a:t>
            </a:r>
            <a:r>
              <a:rPr lang="en-US" sz="1866" b="1" i="0" u="none" strike="noStrike" spc="-100" dirty="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 </a:t>
            </a:r>
            <a:r>
              <a:rPr lang="en-US" sz="1866" b="1" i="0" u="none" strike="noStrike" spc="-100" dirty="0" err="1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조</a:t>
            </a:r>
            <a:endParaRPr lang="en-US" sz="1866" b="1" i="0" u="none" strike="noStrike" spc="-100" dirty="0">
              <a:solidFill>
                <a:srgbClr val="000000"/>
              </a:solidFill>
              <a:latin typeface="Gmarket Sans Bold"/>
              <a:ea typeface="Gmarket Sans Bold"/>
              <a:cs typeface="Gmarket Sans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>
            <a:off x="-8356600" y="-6756400"/>
            <a:ext cx="16713200" cy="14211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6159500"/>
            <a:ext cx="292100" cy="29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6705600"/>
            <a:ext cx="292100" cy="292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7264400"/>
            <a:ext cx="292100" cy="292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854200" y="2133600"/>
            <a:ext cx="20218400" cy="1866900"/>
          </a:xfrm>
          <a:prstGeom prst="rect">
            <a:avLst/>
          </a:prstGeom>
        </p:spPr>
        <p:txBody>
          <a:bodyPr lIns="0" tIns="133773" rIns="0" bIns="133773" rtlCol="0" anchor="ctr"/>
          <a:lstStyle/>
          <a:p>
            <a:pPr lvl="0" algn="l">
              <a:lnSpc>
                <a:spcPct val="99600"/>
              </a:lnSpc>
            </a:pPr>
            <a:r>
              <a:rPr lang="en-US" sz="10533" b="0" i="0" u="none" strike="noStrike" spc="-5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핵심 아키텍처 (2단계)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4200" y="4495800"/>
            <a:ext cx="206883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alphaModFix amt="21000"/>
          </a:blip>
          <a:stretch>
            <a:fillRect/>
          </a:stretch>
        </p:blipFill>
        <p:spPr>
          <a:xfrm>
            <a:off x="-254000" y="1333500"/>
            <a:ext cx="248793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300" y="419100"/>
            <a:ext cx="2324100" cy="698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4200" y="4914900"/>
            <a:ext cx="4953000" cy="3136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9300" y="4914900"/>
            <a:ext cx="4953000" cy="3136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44400" y="4914900"/>
            <a:ext cx="4953000" cy="3136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76800" y="4914900"/>
            <a:ext cx="4953000" cy="31369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778000" y="9779000"/>
            <a:ext cx="5105400" cy="276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Butterworth 저역통과 필터 적용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엉덩이(hip) Y좌표 기반 분석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속도 및 가속도 계산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- 1단계 불확실 구간에만 작동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03400" y="8966200"/>
            <a:ext cx="50546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Physics Rescue 필터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35800" y="9779000"/>
            <a:ext cx="5067300" cy="276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ST-GCN 확률 0.50-0.55 구간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Physics 필터가 최종 판정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- 1단계 확정 판정은 유지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Rescue 모드로 오탐 감소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48500" y="8432800"/>
            <a:ext cx="5054600" cy="10922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ko-KR" altLang="en-US" sz="3200" b="0" i="0" u="none" strike="noStrike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그레이 존</a:t>
            </a:r>
            <a:r>
              <a:rPr lang="en-US" sz="3200" b="0" i="0" u="none" strike="noStrike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 (0.50-0.55) </a:t>
            </a:r>
            <a:r>
              <a:rPr lang="en-US" sz="3200" b="0" i="0" u="none" strike="noStrike" spc="-100" dirty="0" err="1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처리</a:t>
            </a:r>
            <a:endParaRPr lang="en-US" sz="3200" b="0" i="0" u="none" strike="noStrike" spc="-100" dirty="0">
              <a:solidFill>
                <a:srgbClr val="262626"/>
              </a:solidFill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280900" y="9779000"/>
            <a:ext cx="5067300" cy="220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속도 임계값 적용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가속도 임계값 적용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물리 법칙으로 낙상 검증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검증 통과 시 낙상 확정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293600" y="8966200"/>
            <a:ext cx="50546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속도·가속도 임계값 검증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526000" y="9779000"/>
            <a:ext cx="5067300" cy="276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Fall F1-Score: 0.955 달성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Precision 95%, Recall 96%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Accuracy 98.7%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오탐 감소 및 정확도 향상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538700" y="8966200"/>
            <a:ext cx="50546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2단계 성능 향상</a:t>
            </a: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9FD7E870-CC20-9409-4184-B6CC2033A0FC}"/>
              </a:ext>
            </a:extLst>
          </p:cNvPr>
          <p:cNvSpPr txBox="1"/>
          <p:nvPr/>
        </p:nvSpPr>
        <p:spPr>
          <a:xfrm>
            <a:off x="1231900" y="596900"/>
            <a:ext cx="1841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1866" b="1" i="0" u="none" strike="noStrike" spc="-100" dirty="0" err="1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쵸코하임</a:t>
            </a:r>
            <a:r>
              <a:rPr lang="en-US" sz="1866" b="1" i="0" u="none" strike="noStrike" spc="-100" dirty="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 </a:t>
            </a:r>
            <a:r>
              <a:rPr lang="en-US" sz="1866" b="1" i="0" u="none" strike="noStrike" spc="-100" dirty="0" err="1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조</a:t>
            </a:r>
            <a:endParaRPr lang="en-US" sz="1866" b="1" i="0" u="none" strike="noStrike" spc="-100" dirty="0">
              <a:solidFill>
                <a:srgbClr val="000000"/>
              </a:solidFill>
              <a:latin typeface="Gmarket Sans Bold"/>
              <a:ea typeface="Gmarket Sans Bold"/>
              <a:cs typeface="Gmarket Sans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419100"/>
            <a:ext cx="2324100" cy="6985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06500" y="596900"/>
            <a:ext cx="1841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1866" b="1" i="0" u="none" strike="noStrike" spc="-10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쵸코하임 조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>
            <a:off x="4889500" y="-6591300"/>
            <a:ext cx="13309600" cy="115189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123704" y="1676547"/>
            <a:ext cx="12052300" cy="1866900"/>
          </a:xfrm>
          <a:prstGeom prst="rect">
            <a:avLst/>
          </a:prstGeom>
        </p:spPr>
        <p:txBody>
          <a:bodyPr lIns="0" tIns="13377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0533" spc="-4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성능 개선</a:t>
            </a:r>
            <a:endParaRPr lang="en-US" sz="10533" b="0" i="0" u="none" strike="noStrike" spc="-4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6159500"/>
            <a:ext cx="292100" cy="292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6705600"/>
            <a:ext cx="292100" cy="292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7264400"/>
            <a:ext cx="292100" cy="292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alphaModFix amt="21000"/>
          </a:blip>
          <a:stretch>
            <a:fillRect/>
          </a:stretch>
        </p:blipFill>
        <p:spPr>
          <a:xfrm>
            <a:off x="-254000" y="1333500"/>
            <a:ext cx="24879300" cy="25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455809" y="12155967"/>
            <a:ext cx="1698994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l">
              <a:lnSpc>
                <a:spcPct val="107899"/>
              </a:lnSpc>
            </a:pPr>
            <a:r>
              <a:rPr lang="en-US" sz="3200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Before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5286F5D-B669-571B-E10D-FAF66B0577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9106" y="4356100"/>
            <a:ext cx="7772400" cy="77724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010C26B-8194-CC1F-1F7D-69079AC4C8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92496" y="4343695"/>
            <a:ext cx="7772400" cy="7772400"/>
          </a:xfrm>
          <a:prstGeom prst="rect">
            <a:avLst/>
          </a:prstGeom>
        </p:spPr>
      </p:pic>
      <p:sp>
        <p:nvSpPr>
          <p:cNvPr id="17" name="TextBox 14">
            <a:extLst>
              <a:ext uri="{FF2B5EF4-FFF2-40B4-BE49-F238E27FC236}">
                <a16:creationId xmlns:a16="http://schemas.microsoft.com/office/drawing/2014/main" id="{22A31F09-85B3-C515-B736-ED2697A27799}"/>
              </a:ext>
            </a:extLst>
          </p:cNvPr>
          <p:cNvSpPr txBox="1"/>
          <p:nvPr/>
        </p:nvSpPr>
        <p:spPr>
          <a:xfrm>
            <a:off x="16430295" y="12155967"/>
            <a:ext cx="1296801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l">
              <a:lnSpc>
                <a:spcPct val="107899"/>
              </a:lnSpc>
            </a:pPr>
            <a:r>
              <a:rPr lang="en-US" sz="3200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After</a:t>
            </a:r>
          </a:p>
        </p:txBody>
      </p:sp>
      <p:sp>
        <p:nvSpPr>
          <p:cNvPr id="18" name="오른쪽 화살표[R] 17">
            <a:extLst>
              <a:ext uri="{FF2B5EF4-FFF2-40B4-BE49-F238E27FC236}">
                <a16:creationId xmlns:a16="http://schemas.microsoft.com/office/drawing/2014/main" id="{BB6AEF5D-B10E-C1B9-F005-DF3569DDBECF}"/>
              </a:ext>
            </a:extLst>
          </p:cNvPr>
          <p:cNvSpPr/>
          <p:nvPr/>
        </p:nvSpPr>
        <p:spPr>
          <a:xfrm>
            <a:off x="11734800" y="7556500"/>
            <a:ext cx="838200" cy="685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29F5D652-D6DD-B57B-1141-1769FF8D17BC}"/>
              </a:ext>
            </a:extLst>
          </p:cNvPr>
          <p:cNvSpPr/>
          <p:nvPr/>
        </p:nvSpPr>
        <p:spPr>
          <a:xfrm>
            <a:off x="3733800" y="11201400"/>
            <a:ext cx="1447800" cy="5334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3CDF6711-B63D-5C34-7B74-641DC362841A}"/>
              </a:ext>
            </a:extLst>
          </p:cNvPr>
          <p:cNvSpPr/>
          <p:nvPr/>
        </p:nvSpPr>
        <p:spPr>
          <a:xfrm>
            <a:off x="7008997" y="11179839"/>
            <a:ext cx="1144403" cy="5334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149A0DA9-AD81-32CE-F386-0DD204BBEFC5}"/>
              </a:ext>
            </a:extLst>
          </p:cNvPr>
          <p:cNvSpPr/>
          <p:nvPr/>
        </p:nvSpPr>
        <p:spPr>
          <a:xfrm>
            <a:off x="8222510" y="11201400"/>
            <a:ext cx="1302490" cy="5334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2D6D6BF1-6DCE-4350-0DA3-689A3EE111B1}"/>
              </a:ext>
            </a:extLst>
          </p:cNvPr>
          <p:cNvSpPr/>
          <p:nvPr/>
        </p:nvSpPr>
        <p:spPr>
          <a:xfrm>
            <a:off x="10356110" y="11201400"/>
            <a:ext cx="540490" cy="5334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FEE728AF-4462-9841-BEBC-575DE4A27DE5}"/>
              </a:ext>
            </a:extLst>
          </p:cNvPr>
          <p:cNvSpPr/>
          <p:nvPr/>
        </p:nvSpPr>
        <p:spPr>
          <a:xfrm>
            <a:off x="13581171" y="11048999"/>
            <a:ext cx="1302490" cy="664239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147ECCF3-33B4-E049-58CA-4429578DBEF4}"/>
              </a:ext>
            </a:extLst>
          </p:cNvPr>
          <p:cNvSpPr/>
          <p:nvPr/>
        </p:nvSpPr>
        <p:spPr>
          <a:xfrm>
            <a:off x="16403576" y="11071864"/>
            <a:ext cx="1105601" cy="6203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A52216E4-85F8-0CF6-8251-F653FA539496}"/>
              </a:ext>
            </a:extLst>
          </p:cNvPr>
          <p:cNvSpPr/>
          <p:nvPr/>
        </p:nvSpPr>
        <p:spPr>
          <a:xfrm>
            <a:off x="17646299" y="11070927"/>
            <a:ext cx="1105601" cy="6203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3C35ECEC-FF44-36EE-82B0-482914711103}"/>
              </a:ext>
            </a:extLst>
          </p:cNvPr>
          <p:cNvSpPr/>
          <p:nvPr/>
        </p:nvSpPr>
        <p:spPr>
          <a:xfrm>
            <a:off x="19812000" y="11049000"/>
            <a:ext cx="685801" cy="62038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>
            <a:off x="14338300" y="-7137400"/>
            <a:ext cx="17792700" cy="14198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001000" y="9702800"/>
            <a:ext cx="4203700" cy="495300"/>
          </a:xfrm>
          <a:prstGeom prst="rect">
            <a:avLst/>
          </a:prstGeom>
        </p:spPr>
        <p:txBody>
          <a:bodyPr lIns="0" tIns="0" rIns="0" bIns="17780" rtlCol="0" anchor="b"/>
          <a:lstStyle/>
          <a:p>
            <a:pPr lvl="0" algn="ctr">
              <a:lnSpc>
                <a:spcPct val="107899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개인 수준 효과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13700" y="10401300"/>
            <a:ext cx="4203700" cy="17907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낙상 오탐율 감소</a:t>
            </a:r>
          </a:p>
          <a:p>
            <a:pPr lvl="0" algn="ctr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발견 시간 1시간→3초</a:t>
            </a:r>
          </a:p>
          <a:p>
            <a:pPr lvl="0" algn="ctr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일상 재활 참여 가능</a:t>
            </a:r>
          </a:p>
          <a:p>
            <a:pPr lvl="0" algn="ctr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독립 생활 기간 연장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70900" y="4864100"/>
            <a:ext cx="3276600" cy="3746500"/>
          </a:xfrm>
          <a:prstGeom prst="rect">
            <a:avLst/>
          </a:prstGeom>
        </p:spPr>
        <p:txBody>
          <a:bodyPr lIns="0" tIns="214037" rIns="0" bIns="214037" rtlCol="0" anchor="ctr"/>
          <a:lstStyle/>
          <a:p>
            <a:pPr lvl="0" algn="ctr">
              <a:lnSpc>
                <a:spcPct val="102919"/>
              </a:lnSpc>
            </a:pPr>
            <a:r>
              <a:rPr lang="en-US" sz="21066" b="0" i="1" u="none" strike="noStrike" cap="all" spc="-300">
                <a:solidFill>
                  <a:srgbClr val="C9C9C9"/>
                </a:solidFill>
                <a:latin typeface="Gmarket Sans Medium"/>
                <a:ea typeface="Gmarket Sans Medium"/>
                <a:cs typeface="Gmarket Sans Medium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360400" y="4864100"/>
            <a:ext cx="3276600" cy="3746500"/>
          </a:xfrm>
          <a:prstGeom prst="rect">
            <a:avLst/>
          </a:prstGeom>
        </p:spPr>
        <p:txBody>
          <a:bodyPr lIns="0" tIns="214037" rIns="0" bIns="214037" rtlCol="0" anchor="ctr"/>
          <a:lstStyle/>
          <a:p>
            <a:pPr lvl="0" algn="ctr">
              <a:lnSpc>
                <a:spcPct val="102919"/>
              </a:lnSpc>
            </a:pPr>
            <a:r>
              <a:rPr lang="en-US" sz="21066" b="0" i="1" u="none" strike="noStrike" cap="all" spc="-300">
                <a:solidFill>
                  <a:srgbClr val="737373"/>
                </a:solidFill>
                <a:latin typeface="Gmarket Sans Medium"/>
                <a:ea typeface="Gmarket Sans Medium"/>
                <a:cs typeface="Gmarket Sans Medium"/>
              </a:rPr>
              <a:t>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084800" y="4864100"/>
            <a:ext cx="3276600" cy="3746500"/>
          </a:xfrm>
          <a:prstGeom prst="rect">
            <a:avLst/>
          </a:prstGeom>
        </p:spPr>
        <p:txBody>
          <a:bodyPr lIns="0" tIns="214037" rIns="0" bIns="214037" rtlCol="0" anchor="ctr"/>
          <a:lstStyle/>
          <a:p>
            <a:pPr lvl="0" algn="ctr">
              <a:lnSpc>
                <a:spcPct val="102919"/>
              </a:lnSpc>
            </a:pPr>
            <a:r>
              <a:rPr lang="en-US" sz="21066" b="0" i="1" u="none" strike="noStrike" cap="all" spc="-3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3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3098800" y="8623300"/>
            <a:ext cx="18694400" cy="25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3060700" y="2197100"/>
            <a:ext cx="19100800" cy="1866900"/>
          </a:xfrm>
          <a:prstGeom prst="rect">
            <a:avLst/>
          </a:prstGeom>
        </p:spPr>
        <p:txBody>
          <a:bodyPr lIns="0" tIns="133773" rIns="0" bIns="133773" rtlCol="0" anchor="ctr"/>
          <a:lstStyle/>
          <a:p>
            <a:pPr lvl="0" algn="l">
              <a:lnSpc>
                <a:spcPct val="99600"/>
              </a:lnSpc>
            </a:pPr>
            <a:r>
              <a:rPr lang="en-US" sz="10533" b="0" i="0" u="none" strike="noStrike" spc="-3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기대 효과 및 사회적 영향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6159500"/>
            <a:ext cx="292100" cy="292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6705600"/>
            <a:ext cx="292100" cy="292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7264400"/>
            <a:ext cx="292100" cy="292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88900" y="6629400"/>
            <a:ext cx="152400" cy="152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30800" y="6629400"/>
            <a:ext cx="152400" cy="152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alphaModFix amt="21000"/>
          </a:blip>
          <a:stretch>
            <a:fillRect/>
          </a:stretch>
        </p:blipFill>
        <p:spPr>
          <a:xfrm>
            <a:off x="-254000" y="1333500"/>
            <a:ext cx="24879300" cy="25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60700" y="4864100"/>
            <a:ext cx="4483100" cy="7772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2890500" y="9702800"/>
            <a:ext cx="4203700" cy="495300"/>
          </a:xfrm>
          <a:prstGeom prst="rect">
            <a:avLst/>
          </a:prstGeom>
        </p:spPr>
        <p:txBody>
          <a:bodyPr lIns="0" tIns="0" rIns="0" bIns="17780" rtlCol="0" anchor="b"/>
          <a:lstStyle/>
          <a:p>
            <a:pPr lvl="0" algn="ctr">
              <a:lnSpc>
                <a:spcPct val="107899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사회 수준 효과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890500" y="10401300"/>
            <a:ext cx="4203700" cy="13589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의료비 절감 효과</a:t>
            </a:r>
          </a:p>
          <a:p>
            <a:pPr lvl="0" algn="ctr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가족 심리적 부담 완화</a:t>
            </a:r>
          </a:p>
          <a:p>
            <a:pPr lvl="0" algn="ctr">
              <a:lnSpc>
                <a:spcPct val="107899"/>
              </a:lnSpc>
            </a:pPr>
            <a:r>
              <a:rPr lang="en-US" sz="2666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요양병원 적용 가능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614900" y="9702800"/>
            <a:ext cx="4203700" cy="495300"/>
          </a:xfrm>
          <a:prstGeom prst="rect">
            <a:avLst/>
          </a:prstGeom>
        </p:spPr>
        <p:txBody>
          <a:bodyPr lIns="0" tIns="0" rIns="0" bIns="17780" rtlCol="0" anchor="b"/>
          <a:lstStyle/>
          <a:p>
            <a:pPr lvl="0" algn="ctr">
              <a:lnSpc>
                <a:spcPct val="107899"/>
              </a:lnSpc>
            </a:pPr>
            <a:r>
              <a:rPr lang="ko-KR" altLang="en-US" sz="2800" spc="-100" dirty="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기술 수준 효과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Bold"/>
              <a:ea typeface="Gmarket Sans Bold"/>
              <a:cs typeface="Gmarket Sa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7614900" y="10401300"/>
            <a:ext cx="4191000" cy="17907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666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ko-KR" altLang="en-US" sz="2666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실시간 탐지 정확도 향상</a:t>
            </a:r>
            <a:endParaRPr lang="en-US" sz="2666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ctr">
              <a:lnSpc>
                <a:spcPct val="107899"/>
              </a:lnSpc>
            </a:pPr>
            <a:r>
              <a:rPr lang="en-US" sz="2666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en-US" sz="2666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Edge </a:t>
            </a:r>
            <a:r>
              <a:rPr lang="ko-KR" altLang="en-US" sz="2666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디바이스를 통한 개인정보 보호</a:t>
            </a:r>
            <a:endParaRPr lang="en-US" sz="2666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ctr">
              <a:lnSpc>
                <a:spcPct val="107899"/>
              </a:lnSpc>
            </a:pPr>
            <a:r>
              <a:rPr lang="en-US" sz="2666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ko-KR" altLang="en-US" sz="2666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보호자 알림 및 앱 연동을 통한 시스템 확장성 확보</a:t>
            </a:r>
            <a:endParaRPr lang="en-US" sz="2666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ctr">
              <a:lnSpc>
                <a:spcPct val="107899"/>
              </a:lnSpc>
            </a:pPr>
            <a:endParaRPr lang="en-US" sz="2666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3300" y="419100"/>
            <a:ext cx="2324100" cy="6985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231900" y="596900"/>
            <a:ext cx="1841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1866" b="1" i="0" u="none" strike="noStrike" spc="-10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쵸코하임 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>
            <a:off x="-8356600" y="-6756400"/>
            <a:ext cx="16713200" cy="14211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6159500"/>
            <a:ext cx="292100" cy="29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6705600"/>
            <a:ext cx="292100" cy="292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7264400"/>
            <a:ext cx="292100" cy="292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854200" y="2133600"/>
            <a:ext cx="20218400" cy="1866900"/>
          </a:xfrm>
          <a:prstGeom prst="rect">
            <a:avLst/>
          </a:prstGeom>
        </p:spPr>
        <p:txBody>
          <a:bodyPr lIns="0" tIns="133773" rIns="0" bIns="133773" rtlCol="0" anchor="ctr"/>
          <a:lstStyle/>
          <a:p>
            <a:pPr lvl="0" algn="l">
              <a:lnSpc>
                <a:spcPct val="99600"/>
              </a:lnSpc>
            </a:pPr>
            <a:r>
              <a:rPr lang="en-US" sz="10533" b="0" i="0" u="none" strike="noStrike" spc="-5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결론 및 향후 과제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4200" y="4495800"/>
            <a:ext cx="206883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21000"/>
          </a:blip>
          <a:stretch>
            <a:fillRect/>
          </a:stretch>
        </p:blipFill>
        <p:spPr>
          <a:xfrm>
            <a:off x="-254000" y="1333500"/>
            <a:ext cx="248793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4200" y="4914900"/>
            <a:ext cx="4953000" cy="3136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9300" y="4914900"/>
            <a:ext cx="4953000" cy="3136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44400" y="4914900"/>
            <a:ext cx="4953000" cy="3136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76800" y="4914900"/>
            <a:ext cx="4953000" cy="31369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790700" y="9779000"/>
            <a:ext cx="5067300" cy="276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Edge AI 통합 플랫폼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ST-GCN + Physics Rescue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Fall F1: 0.955 달성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실시간 알림 시스템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03400" y="8966200"/>
            <a:ext cx="50546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구현 완료 사항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35800" y="9779000"/>
            <a:ext cx="5067300" cy="163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LOSO 교차 검증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Subject 1-17 확장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실제 환경 데이터 수집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48500" y="8966200"/>
            <a:ext cx="50546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향후 실험 계획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80900" y="9779000"/>
            <a:ext cx="5067300" cy="163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LSTM 베이스라인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TCN 베이스라인</a:t>
            </a: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논문 제출용 비교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293600" y="8966200"/>
            <a:ext cx="50546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베이스라인 비교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526000" y="9779000"/>
            <a:ext cx="5067300" cy="220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독거노인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생명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보호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존엄한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삶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지원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  <a:p>
            <a:pPr lvl="0" algn="ctr">
              <a:lnSpc>
                <a:spcPct val="132800"/>
              </a:lnSpc>
            </a:pP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-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초고령사회</a:t>
            </a:r>
            <a:r>
              <a:rPr lang="en-US" sz="2800" b="0" i="0" u="none" strike="noStrike" spc="-100" dirty="0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 </a:t>
            </a:r>
            <a:r>
              <a:rPr lang="en-US" sz="2800" b="0" i="0" u="none" strike="noStrike" spc="-100" dirty="0" err="1">
                <a:solidFill>
                  <a:srgbClr val="262626"/>
                </a:solidFill>
                <a:latin typeface="Gmarket Sans Medium"/>
                <a:ea typeface="Gmarket Sans Medium"/>
                <a:cs typeface="Gmarket Sans Medium"/>
              </a:rPr>
              <a:t>솔루션</a:t>
            </a:r>
            <a:endParaRPr lang="en-US" sz="2800" b="0" i="0" u="none" strike="noStrike" spc="-100" dirty="0">
              <a:solidFill>
                <a:srgbClr val="262626"/>
              </a:solidFill>
              <a:latin typeface="Gmarket Sans Medium"/>
              <a:ea typeface="Gmarket Sans Medium"/>
              <a:cs typeface="Gmarket Sans Mediu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7538700" y="8966200"/>
            <a:ext cx="5054600" cy="571500"/>
          </a:xfrm>
          <a:prstGeom prst="rect">
            <a:avLst/>
          </a:prstGeom>
        </p:spPr>
        <p:txBody>
          <a:bodyPr lIns="0" tIns="0" rIns="0" bIns="20320" rtlCol="0" anchor="b"/>
          <a:lstStyle/>
          <a:p>
            <a:pPr lvl="0" algn="ctr">
              <a:lnSpc>
                <a:spcPct val="107899"/>
              </a:lnSpc>
            </a:pPr>
            <a:r>
              <a:rPr lang="en-US" sz="3200" b="0" i="0" u="none" strike="noStrike" spc="-100">
                <a:solidFill>
                  <a:srgbClr val="262626"/>
                </a:solidFill>
                <a:latin typeface="Gmarket Sans Bold"/>
                <a:ea typeface="Gmarket Sans Bold"/>
                <a:cs typeface="Gmarket Sans Bold"/>
              </a:rPr>
              <a:t>최종 비전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3300" y="419100"/>
            <a:ext cx="2324100" cy="6985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231900" y="596900"/>
            <a:ext cx="18415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1866" b="1" i="0" u="none" strike="noStrike" spc="-100">
                <a:solidFill>
                  <a:srgbClr val="000000"/>
                </a:solidFill>
                <a:latin typeface="Gmarket Sans Bold"/>
                <a:ea typeface="Gmarket Sans Bold"/>
                <a:cs typeface="Gmarket Sans Bold"/>
              </a:rPr>
              <a:t>쵸코하임 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966</Words>
  <Application>Microsoft Macintosh PowerPoint</Application>
  <PresentationFormat>사용자 지정</PresentationFormat>
  <Paragraphs>193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Calibri</vt:lpstr>
      <vt:lpstr>Gmarket Sans Bold</vt:lpstr>
      <vt:lpstr>맑은 고딕</vt:lpstr>
      <vt:lpstr>Gmarket Sans Medium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박종혁</cp:lastModifiedBy>
  <cp:revision>9</cp:revision>
  <dcterms:created xsi:type="dcterms:W3CDTF">2006-08-16T00:00:00Z</dcterms:created>
  <dcterms:modified xsi:type="dcterms:W3CDTF">2026-07-01T14:40:49Z</dcterms:modified>
</cp:coreProperties>
</file>