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67" r:id="rId5"/>
    <p:sldId id="268" r:id="rId6"/>
    <p:sldId id="259" r:id="rId7"/>
    <p:sldId id="260" r:id="rId8"/>
    <p:sldId id="269" r:id="rId9"/>
    <p:sldId id="270" r:id="rId10"/>
    <p:sldId id="261" r:id="rId11"/>
    <p:sldId id="265" r:id="rId12"/>
    <p:sldId id="266" r:id="rId13"/>
  </p:sldIdLst>
  <p:sldSz cx="24384000" cy="13716000"/>
  <p:notesSz cx="6858000" cy="9144000"/>
  <p:embeddedFontLst>
    <p:embeddedFont>
      <p:font typeface="Gmarket Sans Bold" panose="020B0600000101010101" charset="-127"/>
      <p:bold r:id="rId15"/>
    </p:embeddedFont>
    <p:embeddedFont>
      <p:font typeface="Gmarket Sans Medium" panose="020B0600000101010101" charset="-127"/>
      <p:regular r:id="rId16"/>
    </p:embeddedFont>
    <p:embeddedFont>
      <p:font typeface="맑은 고딕" panose="020B0503020000020004" pitchFamily="50" charset="-127"/>
      <p:regular r:id="rId17"/>
      <p:bold r:id="rId18"/>
    </p:embeddedFont>
    <p:embeddedFont>
      <p:font typeface="Calibri" panose="020F0502020204030204" pitchFamily="34" charset="0"/>
      <p:regular r:id="rId19"/>
      <p:bold r:id="rId20"/>
      <p:italic r:id="rId21"/>
      <p:boldItalic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22" autoAdjust="0"/>
    <p:restoredTop sz="94589" autoAdjust="0"/>
  </p:normalViewPr>
  <p:slideViewPr>
    <p:cSldViewPr>
      <p:cViewPr varScale="1">
        <p:scale>
          <a:sx n="28" d="100"/>
          <a:sy n="28" d="100"/>
        </p:scale>
        <p:origin x="12" y="1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C012FA-08E4-9A42-9D01-E597385AE7EE}" type="datetimeFigureOut">
              <a:rPr kumimoji="1" lang="ko-KR" altLang="en-US" smtClean="0"/>
              <a:t>2026-07-04</a:t>
            </a:fld>
            <a:endParaRPr kumimoji="1"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268CFB-72D5-8D42-B153-F5A7D7A01715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0897659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268CFB-72D5-8D42-B153-F5A7D7A01715}" type="slidenum">
              <a:rPr kumimoji="1" lang="ko-KR" altLang="en-US" smtClean="0"/>
              <a:t>3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1541812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22.png"/><Relationship Id="rId7" Type="http://schemas.openxmlformats.org/officeDocument/2006/relationships/image" Target="../media/image13.png"/><Relationship Id="rId12" Type="http://schemas.openxmlformats.org/officeDocument/2006/relationships/image" Target="../media/image28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11" Type="http://schemas.openxmlformats.org/officeDocument/2006/relationships/image" Target="../media/image17.png"/><Relationship Id="rId5" Type="http://schemas.openxmlformats.org/officeDocument/2006/relationships/image" Target="../media/image24.png"/><Relationship Id="rId10" Type="http://schemas.openxmlformats.org/officeDocument/2006/relationships/image" Target="../media/image27.png"/><Relationship Id="rId4" Type="http://schemas.openxmlformats.org/officeDocument/2006/relationships/image" Target="../media/image23.png"/><Relationship Id="rId9" Type="http://schemas.openxmlformats.org/officeDocument/2006/relationships/image" Target="../media/image26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13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31.png"/><Relationship Id="rId12" Type="http://schemas.openxmlformats.org/officeDocument/2006/relationships/image" Target="../media/image17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png"/><Relationship Id="rId11" Type="http://schemas.openxmlformats.org/officeDocument/2006/relationships/image" Target="../media/image35.png"/><Relationship Id="rId5" Type="http://schemas.openxmlformats.org/officeDocument/2006/relationships/image" Target="../media/image30.png"/><Relationship Id="rId15" Type="http://schemas.openxmlformats.org/officeDocument/2006/relationships/image" Target="../media/image37.png"/><Relationship Id="rId10" Type="http://schemas.openxmlformats.org/officeDocument/2006/relationships/image" Target="../media/image34.png"/><Relationship Id="rId4" Type="http://schemas.openxmlformats.org/officeDocument/2006/relationships/image" Target="../media/image14.png"/><Relationship Id="rId9" Type="http://schemas.openxmlformats.org/officeDocument/2006/relationships/image" Target="../media/image33.png"/><Relationship Id="rId14" Type="http://schemas.openxmlformats.org/officeDocument/2006/relationships/image" Target="../media/image36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12" Type="http://schemas.openxmlformats.org/officeDocument/2006/relationships/image" Target="../media/image45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0.png"/><Relationship Id="rId11" Type="http://schemas.openxmlformats.org/officeDocument/2006/relationships/image" Target="../media/image44.png"/><Relationship Id="rId5" Type="http://schemas.openxmlformats.org/officeDocument/2006/relationships/image" Target="../media/image39.png"/><Relationship Id="rId10" Type="http://schemas.openxmlformats.org/officeDocument/2006/relationships/image" Target="../media/image43.png"/><Relationship Id="rId4" Type="http://schemas.openxmlformats.org/officeDocument/2006/relationships/image" Target="../media/image30.png"/><Relationship Id="rId9" Type="http://schemas.openxmlformats.org/officeDocument/2006/relationships/image" Target="../media/image42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3" Type="http://schemas.openxmlformats.org/officeDocument/2006/relationships/image" Target="../media/image47.png"/><Relationship Id="rId7" Type="http://schemas.openxmlformats.org/officeDocument/2006/relationships/image" Target="../media/image17.png"/><Relationship Id="rId12" Type="http://schemas.openxmlformats.org/officeDocument/2006/relationships/image" Target="../media/image53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0.png"/><Relationship Id="rId11" Type="http://schemas.openxmlformats.org/officeDocument/2006/relationships/image" Target="../media/image52.png"/><Relationship Id="rId5" Type="http://schemas.openxmlformats.org/officeDocument/2006/relationships/image" Target="../media/image48.png"/><Relationship Id="rId10" Type="http://schemas.openxmlformats.org/officeDocument/2006/relationships/image" Target="../media/image51.png"/><Relationship Id="rId4" Type="http://schemas.openxmlformats.org/officeDocument/2006/relationships/image" Target="../media/image14.png"/><Relationship Id="rId9" Type="http://schemas.openxmlformats.org/officeDocument/2006/relationships/image" Target="../media/image50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png"/><Relationship Id="rId3" Type="http://schemas.openxmlformats.org/officeDocument/2006/relationships/image" Target="../media/image55.png"/><Relationship Id="rId7" Type="http://schemas.openxmlformats.org/officeDocument/2006/relationships/image" Target="../media/image17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5" Type="http://schemas.openxmlformats.org/officeDocument/2006/relationships/image" Target="../media/image30.png"/><Relationship Id="rId4" Type="http://schemas.openxmlformats.org/officeDocument/2006/relationships/image" Target="../media/image56.png"/><Relationship Id="rId9" Type="http://schemas.openxmlformats.org/officeDocument/2006/relationships/image" Target="../media/image58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.png"/><Relationship Id="rId3" Type="http://schemas.openxmlformats.org/officeDocument/2006/relationships/image" Target="../media/image59.png"/><Relationship Id="rId7" Type="http://schemas.openxmlformats.org/officeDocument/2006/relationships/image" Target="../media/image20.png"/><Relationship Id="rId12" Type="http://schemas.openxmlformats.org/officeDocument/2006/relationships/image" Target="../media/image65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11" Type="http://schemas.openxmlformats.org/officeDocument/2006/relationships/image" Target="../media/image64.png"/><Relationship Id="rId5" Type="http://schemas.openxmlformats.org/officeDocument/2006/relationships/image" Target="../media/image61.png"/><Relationship Id="rId10" Type="http://schemas.openxmlformats.org/officeDocument/2006/relationships/image" Target="../media/image17.png"/><Relationship Id="rId4" Type="http://schemas.openxmlformats.org/officeDocument/2006/relationships/image" Target="../media/image60.png"/><Relationship Id="rId9" Type="http://schemas.openxmlformats.org/officeDocument/2006/relationships/image" Target="../media/image63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70.png"/><Relationship Id="rId3" Type="http://schemas.openxmlformats.org/officeDocument/2006/relationships/image" Target="../media/image13.png"/><Relationship Id="rId7" Type="http://schemas.openxmlformats.org/officeDocument/2006/relationships/image" Target="../media/image40.png"/><Relationship Id="rId12" Type="http://schemas.openxmlformats.org/officeDocument/2006/relationships/image" Target="../media/image6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9.png"/><Relationship Id="rId11" Type="http://schemas.openxmlformats.org/officeDocument/2006/relationships/image" Target="../media/image68.png"/><Relationship Id="rId5" Type="http://schemas.openxmlformats.org/officeDocument/2006/relationships/image" Target="../media/image14.png"/><Relationship Id="rId10" Type="http://schemas.openxmlformats.org/officeDocument/2006/relationships/image" Target="../media/image67.png"/><Relationship Id="rId4" Type="http://schemas.openxmlformats.org/officeDocument/2006/relationships/image" Target="../media/image30.png"/><Relationship Id="rId9" Type="http://schemas.openxmlformats.org/officeDocument/2006/relationships/image" Target="../media/image6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80000"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>
            <a:alphaModFix amt="60000"/>
          </a:blip>
          <a:stretch>
            <a:fillRect/>
          </a:stretch>
        </p:blipFill>
        <p:spPr>
          <a:xfrm>
            <a:off x="8140700" y="2247900"/>
            <a:ext cx="27736800" cy="2729230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19494500" y="762000"/>
            <a:ext cx="3886200" cy="685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9518"/>
              </a:lnSpc>
            </a:pPr>
            <a:r>
              <a:rPr lang="en-US" sz="3866" b="0" i="0" u="none" strike="noStrike" spc="-100">
                <a:solidFill>
                  <a:srgbClr val="000000"/>
                </a:solidFill>
                <a:latin typeface="Gmarket Sans Medium"/>
                <a:ea typeface="Gmarket Sans Medium"/>
                <a:cs typeface="Gmarket Sans Medium"/>
              </a:rPr>
              <a:t>2026 ICCAS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447800" y="6464300"/>
            <a:ext cx="21882100" cy="495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9518"/>
              </a:lnSpc>
            </a:pPr>
            <a:r>
              <a:rPr lang="en-US" sz="2800" b="0" i="0" u="none" strike="noStrike" spc="-100" dirty="0">
                <a:solidFill>
                  <a:srgbClr val="000000"/>
                </a:solidFill>
                <a:latin typeface="Gmarket Sans Medium"/>
                <a:ea typeface="Gmarket Sans Medium"/>
                <a:cs typeface="Gmarket Sans Medium"/>
              </a:rPr>
              <a:t>24/7 Real-Time Monitoring and Instant Response Platform for Elderly Living Alone in a Super-Aged Society</a:t>
            </a: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84300" y="11861800"/>
            <a:ext cx="3162300" cy="952500"/>
          </a:xfrm>
          <a:prstGeom prst="rect">
            <a:avLst/>
          </a:prstGeom>
        </p:spPr>
      </p:pic>
      <p:sp>
        <p:nvSpPr>
          <p:cNvPr id="8" name="TextBox 8"/>
          <p:cNvSpPr txBox="1"/>
          <p:nvPr/>
        </p:nvSpPr>
        <p:spPr>
          <a:xfrm>
            <a:off x="1714500" y="12153900"/>
            <a:ext cx="2514600" cy="431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9518"/>
              </a:lnSpc>
            </a:pPr>
            <a:r>
              <a:rPr lang="en-US" sz="2400" b="1" i="0" u="none" strike="noStrike" spc="-100">
                <a:solidFill>
                  <a:srgbClr val="000000"/>
                </a:solidFill>
                <a:latin typeface="Gmarket Sans Bold"/>
                <a:ea typeface="Gmarket Sans Bold"/>
                <a:cs typeface="Gmarket Sans Bold"/>
              </a:rPr>
              <a:t>Team Choco Haim</a:t>
            </a: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97000" y="1651000"/>
            <a:ext cx="21818600" cy="635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97000" y="6083300"/>
            <a:ext cx="21818600" cy="254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-2175">
            <a:off x="4546600" y="12306300"/>
            <a:ext cx="18669000" cy="63500"/>
          </a:xfrm>
          <a:prstGeom prst="rect">
            <a:avLst/>
          </a:prstGeom>
        </p:spPr>
      </p:pic>
      <p:sp>
        <p:nvSpPr>
          <p:cNvPr id="12" name="TextBox 12"/>
          <p:cNvSpPr txBox="1"/>
          <p:nvPr/>
        </p:nvSpPr>
        <p:spPr>
          <a:xfrm>
            <a:off x="228600" y="13017500"/>
            <a:ext cx="21882100" cy="495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9518"/>
              </a:lnSpc>
            </a:pPr>
            <a:r>
              <a:rPr lang="en-US" sz="2800" b="0" i="0" u="none" strike="noStrike" spc="-100">
                <a:solidFill>
                  <a:srgbClr val="000000"/>
                </a:solidFill>
                <a:latin typeface="Gmarket Sans Medium"/>
                <a:ea typeface="Gmarket Sans Medium"/>
                <a:cs typeface="Gmarket Sans Medium"/>
              </a:rPr>
              <a:t>Damin Kim, Jonghyeok Park, Ali, Seongwoo Cho</a:t>
            </a:r>
          </a:p>
        </p:txBody>
      </p:sp>
      <p:sp>
        <p:nvSpPr>
          <p:cNvPr id="13" name="TextBox 4">
            <a:extLst>
              <a:ext uri="{FF2B5EF4-FFF2-40B4-BE49-F238E27FC236}">
                <a16:creationId xmlns:a16="http://schemas.microsoft.com/office/drawing/2014/main" id="{C6136CA2-3D52-4B5D-AA27-FCE73D646DFC}"/>
              </a:ext>
            </a:extLst>
          </p:cNvPr>
          <p:cNvSpPr txBox="1"/>
          <p:nvPr/>
        </p:nvSpPr>
        <p:spPr>
          <a:xfrm>
            <a:off x="1384300" y="2560764"/>
            <a:ext cx="22161500" cy="3053906"/>
          </a:xfrm>
          <a:prstGeom prst="rect">
            <a:avLst/>
          </a:prstGeom>
        </p:spPr>
        <p:txBody>
          <a:bodyPr lIns="0" tIns="133773" rIns="0" bIns="133773" rtlCol="0" anchor="ctr"/>
          <a:lstStyle/>
          <a:p>
            <a:pPr lvl="0" algn="l">
              <a:lnSpc>
                <a:spcPct val="99600"/>
              </a:lnSpc>
            </a:pPr>
            <a:r>
              <a:rPr lang="en-US" altLang="ko-KR" sz="8000" b="1" i="0" u="none" strike="noStrike" spc="-400" dirty="0" err="1">
                <a:solidFill>
                  <a:srgbClr val="262626"/>
                </a:solidFill>
                <a:latin typeface="Gmarket Sans Medium" panose="020B0600000101010101" charset="-127"/>
                <a:ea typeface="Gmarket Sans Medium" panose="020B0600000101010101" charset="-127"/>
                <a:cs typeface="Gmarket Sans Medium"/>
              </a:rPr>
              <a:t>MobiCare</a:t>
            </a:r>
            <a:r>
              <a:rPr lang="en-US" altLang="ko-KR" sz="8000" b="1" i="0" u="none" strike="noStrike" spc="-400" dirty="0">
                <a:solidFill>
                  <a:srgbClr val="262626"/>
                </a:solidFill>
                <a:latin typeface="Gmarket Sans Medium" panose="020B0600000101010101" charset="-127"/>
                <a:ea typeface="Gmarket Sans Medium" panose="020B0600000101010101" charset="-127"/>
                <a:cs typeface="Gmarket Sans Medium"/>
              </a:rPr>
              <a:t>: Edge AI</a:t>
            </a:r>
          </a:p>
          <a:p>
            <a:pPr>
              <a:lnSpc>
                <a:spcPct val="99600"/>
              </a:lnSpc>
            </a:pPr>
            <a:r>
              <a:rPr kumimoji="0" lang="ko-KR" altLang="ko-KR" sz="6600" b="1" i="0" u="none" strike="noStrike" cap="none" normalizeH="0" baseline="0" dirty="0" err="1">
                <a:ln>
                  <a:noFill/>
                </a:ln>
                <a:solidFill>
                  <a:srgbClr val="1F1F1F"/>
                </a:solidFill>
                <a:effectLst/>
                <a:latin typeface="Gmarket Sans Medium" panose="020B0600000101010101" charset="-127"/>
                <a:ea typeface="Gmarket Sans Medium" panose="020B0600000101010101" charset="-127"/>
              </a:rPr>
              <a:t>Integration</a:t>
            </a:r>
            <a:r>
              <a:rPr kumimoji="0" lang="ko-KR" altLang="ko-KR" sz="6600" b="1" i="0" u="none" strike="noStrike" cap="none" normalizeH="0" baseline="0" dirty="0">
                <a:ln>
                  <a:noFill/>
                </a:ln>
                <a:solidFill>
                  <a:srgbClr val="1F1F1F"/>
                </a:solidFill>
                <a:effectLst/>
                <a:latin typeface="Gmarket Sans Medium" panose="020B0600000101010101" charset="-127"/>
                <a:ea typeface="Gmarket Sans Medium" panose="020B0600000101010101" charset="-127"/>
              </a:rPr>
              <a:t> of </a:t>
            </a:r>
            <a:br>
              <a:rPr kumimoji="0" lang="en-US" altLang="ko-KR" sz="6600" b="1" i="0" u="none" strike="noStrike" cap="none" normalizeH="0" baseline="0" dirty="0">
                <a:ln>
                  <a:noFill/>
                </a:ln>
                <a:solidFill>
                  <a:srgbClr val="1F1F1F"/>
                </a:solidFill>
                <a:effectLst/>
                <a:latin typeface="Gmarket Sans Medium" panose="020B0600000101010101" charset="-127"/>
                <a:ea typeface="Gmarket Sans Medium" panose="020B0600000101010101" charset="-127"/>
              </a:rPr>
            </a:br>
            <a:r>
              <a:rPr kumimoji="0" lang="ko-KR" altLang="ko-KR" sz="6600" b="1" i="0" u="none" strike="noStrike" cap="none" normalizeH="0" baseline="0" dirty="0" err="1">
                <a:ln>
                  <a:noFill/>
                </a:ln>
                <a:solidFill>
                  <a:srgbClr val="1F1F1F"/>
                </a:solidFill>
                <a:effectLst/>
                <a:latin typeface="Gmarket Sans Medium" panose="020B0600000101010101" charset="-127"/>
                <a:ea typeface="Gmarket Sans Medium" panose="020B0600000101010101" charset="-127"/>
              </a:rPr>
              <a:t>Fall</a:t>
            </a:r>
            <a:r>
              <a:rPr kumimoji="0" lang="ko-KR" altLang="ko-KR" sz="6600" b="1" i="0" u="none" strike="noStrike" cap="none" normalizeH="0" baseline="0" dirty="0">
                <a:ln>
                  <a:noFill/>
                </a:ln>
                <a:solidFill>
                  <a:srgbClr val="1F1F1F"/>
                </a:solidFill>
                <a:effectLst/>
                <a:latin typeface="Gmarket Sans Medium" panose="020B0600000101010101" charset="-127"/>
                <a:ea typeface="Gmarket Sans Medium" panose="020B0600000101010101" charset="-127"/>
              </a:rPr>
              <a:t> </a:t>
            </a:r>
            <a:r>
              <a:rPr kumimoji="0" lang="ko-KR" altLang="ko-KR" sz="6600" b="1" i="0" u="none" strike="noStrike" cap="none" normalizeH="0" baseline="0" dirty="0" err="1">
                <a:ln>
                  <a:noFill/>
                </a:ln>
                <a:solidFill>
                  <a:srgbClr val="1F1F1F"/>
                </a:solidFill>
                <a:effectLst/>
                <a:latin typeface="Gmarket Sans Medium" panose="020B0600000101010101" charset="-127"/>
                <a:ea typeface="Gmarket Sans Medium" panose="020B0600000101010101" charset="-127"/>
              </a:rPr>
              <a:t>Prevention</a:t>
            </a:r>
            <a:r>
              <a:rPr kumimoji="0" lang="ko-KR" altLang="ko-KR" sz="6600" b="1" i="0" u="none" strike="noStrike" cap="none" normalizeH="0" baseline="0" dirty="0">
                <a:ln>
                  <a:noFill/>
                </a:ln>
                <a:solidFill>
                  <a:srgbClr val="1F1F1F"/>
                </a:solidFill>
                <a:effectLst/>
                <a:latin typeface="Gmarket Sans Medium" panose="020B0600000101010101" charset="-127"/>
                <a:ea typeface="Gmarket Sans Medium" panose="020B0600000101010101" charset="-127"/>
              </a:rPr>
              <a:t>, </a:t>
            </a:r>
            <a:r>
              <a:rPr kumimoji="0" lang="ko-KR" altLang="ko-KR" sz="6600" b="1" i="0" u="none" strike="noStrike" cap="none" normalizeH="0" baseline="0" dirty="0" err="1">
                <a:ln>
                  <a:noFill/>
                </a:ln>
                <a:solidFill>
                  <a:srgbClr val="1F1F1F"/>
                </a:solidFill>
                <a:effectLst/>
                <a:latin typeface="Gmarket Sans Medium" panose="020B0600000101010101" charset="-127"/>
                <a:ea typeface="Gmarket Sans Medium" panose="020B0600000101010101" charset="-127"/>
              </a:rPr>
              <a:t>Detection</a:t>
            </a:r>
            <a:r>
              <a:rPr kumimoji="0" lang="ko-KR" altLang="ko-KR" sz="6600" b="1" i="0" u="none" strike="noStrike" cap="none" normalizeH="0" baseline="0" dirty="0">
                <a:ln>
                  <a:noFill/>
                </a:ln>
                <a:solidFill>
                  <a:srgbClr val="1F1F1F"/>
                </a:solidFill>
                <a:effectLst/>
                <a:latin typeface="Gmarket Sans Medium" panose="020B0600000101010101" charset="-127"/>
                <a:ea typeface="Gmarket Sans Medium" panose="020B0600000101010101" charset="-127"/>
              </a:rPr>
              <a:t>, and </a:t>
            </a:r>
            <a:r>
              <a:rPr kumimoji="0" lang="ko-KR" altLang="ko-KR" sz="6600" b="1" i="0" u="none" strike="noStrike" cap="none" normalizeH="0" baseline="0" dirty="0" err="1">
                <a:ln>
                  <a:noFill/>
                </a:ln>
                <a:solidFill>
                  <a:srgbClr val="1F1F1F"/>
                </a:solidFill>
                <a:effectLst/>
                <a:latin typeface="Gmarket Sans Medium" panose="020B0600000101010101" charset="-127"/>
                <a:ea typeface="Gmarket Sans Medium" panose="020B0600000101010101" charset="-127"/>
              </a:rPr>
              <a:t>Rehabilitation</a:t>
            </a:r>
            <a:r>
              <a:rPr kumimoji="0" lang="ko-KR" altLang="ko-KR" sz="4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market Sans Medium" panose="020B0600000101010101" charset="-127"/>
                <a:ea typeface="Gmarket Sans Medium" panose="020B0600000101010101" charset="-127"/>
              </a:rPr>
              <a:t> </a:t>
            </a:r>
            <a:endParaRPr kumimoji="0" lang="ko-KR" altLang="ko-KR" sz="5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market Sans Medium" panose="020B0600000101010101" charset="-127"/>
              <a:ea typeface="Gmarket Sans Medium" panose="020B0600000101010101" charset="-127"/>
            </a:endParaRPr>
          </a:p>
        </p:txBody>
      </p:sp>
      <p:sp>
        <p:nvSpPr>
          <p:cNvPr id="14" name="Rectangle 1">
            <a:extLst>
              <a:ext uri="{FF2B5EF4-FFF2-40B4-BE49-F238E27FC236}">
                <a16:creationId xmlns:a16="http://schemas.microsoft.com/office/drawing/2014/main" id="{8786AB81-08AD-43FE-A30B-ECDD981D48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07728"/>
            <a:ext cx="65" cy="241744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-17457" rIns="0" bIns="-17457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alphaModFix amt="80000"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>
            <a:alphaModFix amt="67000"/>
          </a:blip>
          <a:stretch>
            <a:fillRect/>
          </a:stretch>
        </p:blipFill>
        <p:spPr>
          <a:xfrm>
            <a:off x="-6451600" y="8750300"/>
            <a:ext cx="14528800" cy="123571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0600" y="4991100"/>
            <a:ext cx="292100" cy="2921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0600" y="5537200"/>
            <a:ext cx="292100" cy="2921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0600" y="6096000"/>
            <a:ext cx="292100" cy="292100"/>
          </a:xfrm>
          <a:prstGeom prst="rect">
            <a:avLst/>
          </a:prstGeom>
        </p:spPr>
      </p:pic>
      <p:sp>
        <p:nvSpPr>
          <p:cNvPr id="8" name="TextBox 8"/>
          <p:cNvSpPr txBox="1"/>
          <p:nvPr/>
        </p:nvSpPr>
        <p:spPr>
          <a:xfrm>
            <a:off x="1892300" y="3886200"/>
            <a:ext cx="1193800" cy="1066800"/>
          </a:xfrm>
          <a:prstGeom prst="rect">
            <a:avLst/>
          </a:prstGeom>
        </p:spPr>
        <p:txBody>
          <a:bodyPr lIns="0" tIns="133350" rIns="0" bIns="133350" rtlCol="0" anchor="ctr"/>
          <a:lstStyle/>
          <a:p>
            <a:pPr lvl="0" algn="ctr">
              <a:lnSpc>
                <a:spcPct val="87149"/>
              </a:lnSpc>
            </a:pPr>
            <a:r>
              <a:rPr lang="en-US" sz="6000" b="0" i="0" u="none" strike="noStrike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01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784600" y="4178300"/>
            <a:ext cx="4699000" cy="495300"/>
          </a:xfrm>
          <a:prstGeom prst="rect">
            <a:avLst/>
          </a:prstGeom>
        </p:spPr>
        <p:txBody>
          <a:bodyPr lIns="0" tIns="28448" rIns="0" bIns="28448" rtlCol="0" anchor="ctr"/>
          <a:lstStyle/>
          <a:p>
            <a:pPr lvl="0" algn="l">
              <a:lnSpc>
                <a:spcPct val="102919"/>
              </a:lnSpc>
            </a:pPr>
            <a:r>
              <a:rPr lang="en-US" sz="2800" b="0" i="0" u="none" strike="noStrike" spc="-100" dirty="0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Service Overview</a:t>
            </a: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73400" y="4406900"/>
            <a:ext cx="584200" cy="25400"/>
          </a:xfrm>
          <a:prstGeom prst="rect">
            <a:avLst/>
          </a:prstGeom>
        </p:spPr>
      </p:pic>
      <p:sp>
        <p:nvSpPr>
          <p:cNvPr id="11" name="TextBox 11"/>
          <p:cNvSpPr txBox="1"/>
          <p:nvPr/>
        </p:nvSpPr>
        <p:spPr>
          <a:xfrm>
            <a:off x="3784600" y="5257800"/>
            <a:ext cx="4686300" cy="1701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400" b="0" i="0" u="none" strike="noStrike" spc="-100" dirty="0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- Integrated 3-stage: Prevention-Detection-Rehabilitation</a:t>
            </a:r>
          </a:p>
          <a:p>
            <a:pPr lvl="0" algn="l">
              <a:lnSpc>
                <a:spcPct val="116199"/>
              </a:lnSpc>
            </a:pPr>
            <a:r>
              <a:rPr lang="en-US" sz="2400" b="0" i="0" u="none" strike="noStrike" spc="-100" dirty="0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- Targeting elderly living alone in a super-aged society</a:t>
            </a:r>
          </a:p>
          <a:p>
            <a:pPr lvl="0" algn="l">
              <a:lnSpc>
                <a:spcPct val="116199"/>
              </a:lnSpc>
            </a:pPr>
            <a:r>
              <a:rPr lang="en-US" sz="2400" b="0" i="0" u="none" strike="noStrike" spc="-100" dirty="0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- 24/7 indoor monitoring</a:t>
            </a:r>
          </a:p>
          <a:p>
            <a:pPr lvl="0" algn="l">
              <a:lnSpc>
                <a:spcPct val="116199"/>
              </a:lnSpc>
            </a:pPr>
            <a:r>
              <a:rPr lang="en-US" sz="2400" b="0" i="0" u="none" strike="noStrike" spc="-100" dirty="0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- Key message and operating principle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750300" y="3886200"/>
            <a:ext cx="1435100" cy="1066800"/>
          </a:xfrm>
          <a:prstGeom prst="rect">
            <a:avLst/>
          </a:prstGeom>
        </p:spPr>
        <p:txBody>
          <a:bodyPr lIns="0" tIns="133350" rIns="0" bIns="133350" rtlCol="0" anchor="ctr"/>
          <a:lstStyle/>
          <a:p>
            <a:pPr lvl="0" algn="ctr">
              <a:lnSpc>
                <a:spcPct val="87149"/>
              </a:lnSpc>
            </a:pPr>
            <a:r>
              <a:rPr lang="en-US" sz="6000" b="0" i="0" u="none" strike="noStrike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02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782300" y="4178300"/>
            <a:ext cx="4699000" cy="495300"/>
          </a:xfrm>
          <a:prstGeom prst="rect">
            <a:avLst/>
          </a:prstGeom>
        </p:spPr>
        <p:txBody>
          <a:bodyPr lIns="0" tIns="28448" rIns="0" bIns="28448" rtlCol="0" anchor="ctr"/>
          <a:lstStyle/>
          <a:p>
            <a:pPr lvl="0" algn="l">
              <a:lnSpc>
                <a:spcPct val="102919"/>
              </a:lnSpc>
            </a:pPr>
            <a:r>
              <a:rPr lang="en-US" sz="2800" b="0" i="0" u="none" strike="noStrike" spc="-100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Limitations of Existing Solutions</a:t>
            </a: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71100" y="4406900"/>
            <a:ext cx="584200" cy="25400"/>
          </a:xfrm>
          <a:prstGeom prst="rect">
            <a:avLst/>
          </a:prstGeom>
        </p:spPr>
      </p:pic>
      <p:sp>
        <p:nvSpPr>
          <p:cNvPr id="15" name="TextBox 15"/>
          <p:cNvSpPr txBox="1"/>
          <p:nvPr/>
        </p:nvSpPr>
        <p:spPr>
          <a:xfrm>
            <a:off x="10782300" y="5257800"/>
            <a:ext cx="4686300" cy="1282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400" b="0" i="0" u="none" strike="noStrike" spc="-100" dirty="0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- Resistance to wearing wearable devices</a:t>
            </a:r>
          </a:p>
          <a:p>
            <a:pPr lvl="0" algn="l">
              <a:lnSpc>
                <a:spcPct val="116199"/>
              </a:lnSpc>
            </a:pPr>
            <a:r>
              <a:rPr lang="en-US" sz="2400" b="0" i="0" u="none" strike="noStrike" spc="-100" dirty="0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- CCTV limited to recording only</a:t>
            </a:r>
          </a:p>
          <a:p>
            <a:pPr lvl="0" algn="l">
              <a:lnSpc>
                <a:spcPct val="116199"/>
              </a:lnSpc>
            </a:pPr>
            <a:r>
              <a:rPr lang="en-US" sz="2400" b="0" i="0" u="none" strike="noStrike" spc="-100" dirty="0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- Lack of AI analysis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5798800" y="3886200"/>
            <a:ext cx="1308100" cy="1066800"/>
          </a:xfrm>
          <a:prstGeom prst="rect">
            <a:avLst/>
          </a:prstGeom>
        </p:spPr>
        <p:txBody>
          <a:bodyPr lIns="0" tIns="133350" rIns="0" bIns="133350" rtlCol="0" anchor="ctr"/>
          <a:lstStyle/>
          <a:p>
            <a:pPr lvl="0" algn="ctr">
              <a:lnSpc>
                <a:spcPct val="87149"/>
              </a:lnSpc>
            </a:pPr>
            <a:r>
              <a:rPr lang="en-US" sz="6000" b="0" i="0" u="none" strike="noStrike" dirty="0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03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7780000" y="4178300"/>
            <a:ext cx="4699000" cy="495300"/>
          </a:xfrm>
          <a:prstGeom prst="rect">
            <a:avLst/>
          </a:prstGeom>
        </p:spPr>
        <p:txBody>
          <a:bodyPr lIns="0" tIns="28448" rIns="0" bIns="28448" rtlCol="0" anchor="ctr"/>
          <a:lstStyle/>
          <a:p>
            <a:pPr lvl="0" algn="l">
              <a:lnSpc>
                <a:spcPct val="102919"/>
              </a:lnSpc>
            </a:pPr>
            <a:r>
              <a:rPr lang="en-US" sz="2800" b="0" i="0" u="none" strike="noStrike" spc="-100" dirty="0" err="1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Core Technology</a:t>
            </a:r>
            <a:endParaRPr lang="en-US" sz="2800" b="0" i="0" u="none" strike="noStrike" spc="-100" dirty="0">
              <a:solidFill>
                <a:srgbClr val="262626"/>
              </a:solidFill>
              <a:latin typeface="Gmarket Sans Medium"/>
              <a:ea typeface="Gmarket Sans Medium"/>
              <a:cs typeface="Gmarket Sans Medium"/>
            </a:endParaRP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068800" y="4406900"/>
            <a:ext cx="584200" cy="25400"/>
          </a:xfrm>
          <a:prstGeom prst="rect">
            <a:avLst/>
          </a:prstGeom>
        </p:spPr>
      </p:pic>
      <p:sp>
        <p:nvSpPr>
          <p:cNvPr id="19" name="TextBox 19"/>
          <p:cNvSpPr txBox="1"/>
          <p:nvPr/>
        </p:nvSpPr>
        <p:spPr>
          <a:xfrm>
            <a:off x="17716500" y="5048250"/>
            <a:ext cx="4686300" cy="1701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400" b="0" i="0" u="none" strike="noStrike" spc="-100" dirty="0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- YOLOv11 Pose Estimation</a:t>
            </a:r>
          </a:p>
          <a:p>
            <a:pPr lvl="0" algn="l">
              <a:lnSpc>
                <a:spcPct val="116199"/>
              </a:lnSpc>
            </a:pPr>
            <a:r>
              <a:rPr lang="en-US" sz="2400" b="0" i="0" u="none" strike="noStrike" spc="-100" dirty="0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- Lightweight Edge AI model</a:t>
            </a:r>
          </a:p>
          <a:p>
            <a:pPr lvl="0" algn="l">
              <a:lnSpc>
                <a:spcPct val="116199"/>
              </a:lnSpc>
            </a:pPr>
            <a:r>
              <a:rPr lang="en-US" sz="2400" b="0" i="0" u="none" strike="noStrike" spc="-100" dirty="0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- ST-GCN + Physics Rescue</a:t>
            </a:r>
          </a:p>
          <a:p>
            <a:pPr lvl="0" algn="l">
              <a:lnSpc>
                <a:spcPct val="116199"/>
              </a:lnSpc>
            </a:pPr>
            <a:r>
              <a:rPr lang="en-US" sz="2400" b="0" i="0" u="none" strike="noStrike" spc="-100" dirty="0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- Alert system within 3 seconds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816100" y="8813800"/>
            <a:ext cx="1358900" cy="1066800"/>
          </a:xfrm>
          <a:prstGeom prst="rect">
            <a:avLst/>
          </a:prstGeom>
        </p:spPr>
        <p:txBody>
          <a:bodyPr lIns="0" tIns="133350" rIns="0" bIns="133350" rtlCol="0" anchor="ctr"/>
          <a:lstStyle/>
          <a:p>
            <a:pPr lvl="0" algn="ctr">
              <a:lnSpc>
                <a:spcPct val="87149"/>
              </a:lnSpc>
            </a:pPr>
            <a:r>
              <a:rPr lang="en-US" sz="6000" b="0" i="0" u="none" strike="noStrike" dirty="0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04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3784600" y="9093200"/>
            <a:ext cx="4699000" cy="495300"/>
          </a:xfrm>
          <a:prstGeom prst="rect">
            <a:avLst/>
          </a:prstGeom>
        </p:spPr>
        <p:txBody>
          <a:bodyPr lIns="0" tIns="28448" rIns="0" bIns="28448" rtlCol="0" anchor="ctr"/>
          <a:lstStyle/>
          <a:p>
            <a:pPr lvl="0" algn="l">
              <a:lnSpc>
                <a:spcPct val="102919"/>
              </a:lnSpc>
            </a:pPr>
            <a:r>
              <a:rPr lang="en-US" sz="2800" b="0" i="0" u="none" strike="noStrike" spc="-100" dirty="0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Personalized Service</a:t>
            </a:r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73400" y="9334500"/>
            <a:ext cx="584200" cy="25400"/>
          </a:xfrm>
          <a:prstGeom prst="rect">
            <a:avLst/>
          </a:prstGeom>
        </p:spPr>
      </p:pic>
      <p:sp>
        <p:nvSpPr>
          <p:cNvPr id="23" name="TextBox 23"/>
          <p:cNvSpPr txBox="1"/>
          <p:nvPr/>
        </p:nvSpPr>
        <p:spPr>
          <a:xfrm>
            <a:off x="3784600" y="10185400"/>
            <a:ext cx="4686300" cy="1701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400" b="0" i="0" u="none" strike="noStrike" spc="-100" dirty="0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- Settings based on user profile</a:t>
            </a:r>
          </a:p>
          <a:p>
            <a:pPr lvl="0" algn="l">
              <a:lnSpc>
                <a:spcPct val="116199"/>
              </a:lnSpc>
            </a:pPr>
            <a:r>
              <a:rPr lang="en-US" sz="2400" b="0" i="0" u="none" strike="noStrike" spc="-100" dirty="0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- Family notification integration</a:t>
            </a:r>
          </a:p>
          <a:p>
            <a:pPr lvl="0" algn="l">
              <a:lnSpc>
                <a:spcPct val="116199"/>
              </a:lnSpc>
            </a:pPr>
            <a:r>
              <a:rPr lang="en-US" sz="2400" b="0" i="0" u="none" strike="noStrike" spc="-100" dirty="0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- Real-time dashboard</a:t>
            </a:r>
          </a:p>
          <a:p>
            <a:pPr lvl="0" algn="l">
              <a:lnSpc>
                <a:spcPct val="116199"/>
              </a:lnSpc>
            </a:pPr>
            <a:r>
              <a:rPr lang="en-US" sz="2400" b="0" i="0" u="none" strike="noStrike" spc="-100" dirty="0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- Weekly health trend analysis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8750300" y="8813800"/>
            <a:ext cx="1435100" cy="1066800"/>
          </a:xfrm>
          <a:prstGeom prst="rect">
            <a:avLst/>
          </a:prstGeom>
        </p:spPr>
        <p:txBody>
          <a:bodyPr lIns="0" tIns="133350" rIns="0" bIns="133350" rtlCol="0" anchor="ctr"/>
          <a:lstStyle/>
          <a:p>
            <a:pPr lvl="0" algn="ctr">
              <a:lnSpc>
                <a:spcPct val="87149"/>
              </a:lnSpc>
            </a:pPr>
            <a:r>
              <a:rPr lang="en-US" sz="6000" b="0" i="0" u="none" strike="noStrike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05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0782300" y="9093200"/>
            <a:ext cx="4699000" cy="495300"/>
          </a:xfrm>
          <a:prstGeom prst="rect">
            <a:avLst/>
          </a:prstGeom>
        </p:spPr>
        <p:txBody>
          <a:bodyPr lIns="0" tIns="28448" rIns="0" bIns="28448" rtlCol="0" anchor="ctr"/>
          <a:lstStyle/>
          <a:p>
            <a:pPr lvl="0" algn="l">
              <a:lnSpc>
                <a:spcPct val="102919"/>
              </a:lnSpc>
            </a:pPr>
            <a:r>
              <a:rPr lang="en-US" sz="2800" b="0" i="0" u="none" strike="noStrike" spc="-100" dirty="0" err="1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Performance Improvement</a:t>
            </a:r>
            <a:endParaRPr lang="en-US" sz="2800" b="0" i="0" u="none" strike="noStrike" spc="-100" dirty="0">
              <a:solidFill>
                <a:srgbClr val="262626"/>
              </a:solidFill>
              <a:latin typeface="Gmarket Sans Medium"/>
              <a:ea typeface="Gmarket Sans Medium"/>
              <a:cs typeface="Gmarket Sans Medium"/>
            </a:endParaRPr>
          </a:p>
        </p:txBody>
      </p:sp>
      <p:pic>
        <p:nvPicPr>
          <p:cNvPr id="26" name="Picture 2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71100" y="9334500"/>
            <a:ext cx="584200" cy="25400"/>
          </a:xfrm>
          <a:prstGeom prst="rect">
            <a:avLst/>
          </a:prstGeom>
        </p:spPr>
      </p:pic>
      <p:sp>
        <p:nvSpPr>
          <p:cNvPr id="27" name="TextBox 27"/>
          <p:cNvSpPr txBox="1"/>
          <p:nvPr/>
        </p:nvSpPr>
        <p:spPr>
          <a:xfrm>
            <a:off x="10782300" y="10185400"/>
            <a:ext cx="4686300" cy="1701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400" b="0" i="0" u="none" strike="noStrike" spc="-100" dirty="0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- Fall detection accuracy metrics</a:t>
            </a:r>
          </a:p>
          <a:p>
            <a:pPr lvl="0" algn="l">
              <a:lnSpc>
                <a:spcPct val="116199"/>
              </a:lnSpc>
            </a:pPr>
            <a:r>
              <a:rPr lang="en-US" sz="2400" b="0" i="0" u="none" strike="noStrike" spc="-100" dirty="0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- Data collection and visualization</a:t>
            </a:r>
          </a:p>
          <a:p>
            <a:pPr lvl="0" algn="l">
              <a:lnSpc>
                <a:spcPct val="116199"/>
              </a:lnSpc>
            </a:pPr>
            <a:r>
              <a:rPr lang="en-US" sz="2400" b="0" i="0" u="none" strike="noStrike" spc="-100" dirty="0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- Experimental results analysis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5798800" y="8813800"/>
            <a:ext cx="1308100" cy="1066800"/>
          </a:xfrm>
          <a:prstGeom prst="rect">
            <a:avLst/>
          </a:prstGeom>
        </p:spPr>
        <p:txBody>
          <a:bodyPr lIns="0" tIns="133350" rIns="0" bIns="133350" rtlCol="0" anchor="ctr"/>
          <a:lstStyle/>
          <a:p>
            <a:pPr lvl="0" algn="ctr">
              <a:lnSpc>
                <a:spcPct val="87149"/>
              </a:lnSpc>
            </a:pPr>
            <a:r>
              <a:rPr lang="en-US" sz="6000" b="0" i="0" u="none" strike="noStrike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06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7780000" y="9093200"/>
            <a:ext cx="4699000" cy="495300"/>
          </a:xfrm>
          <a:prstGeom prst="rect">
            <a:avLst/>
          </a:prstGeom>
        </p:spPr>
        <p:txBody>
          <a:bodyPr lIns="0" tIns="28448" rIns="0" bIns="28448" rtlCol="0" anchor="ctr"/>
          <a:lstStyle/>
          <a:p>
            <a:pPr lvl="0" algn="l">
              <a:lnSpc>
                <a:spcPct val="102919"/>
              </a:lnSpc>
            </a:pPr>
            <a:r>
              <a:rPr lang="en-US" sz="2800" b="0" i="0" u="none" strike="noStrike" spc="-100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Expected Impact</a:t>
            </a:r>
          </a:p>
        </p:txBody>
      </p:sp>
      <p:pic>
        <p:nvPicPr>
          <p:cNvPr id="30" name="Picture 3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068800" y="9334500"/>
            <a:ext cx="584200" cy="25400"/>
          </a:xfrm>
          <a:prstGeom prst="rect">
            <a:avLst/>
          </a:prstGeom>
        </p:spPr>
      </p:pic>
      <p:sp>
        <p:nvSpPr>
          <p:cNvPr id="31" name="TextBox 31"/>
          <p:cNvSpPr txBox="1"/>
          <p:nvPr/>
        </p:nvSpPr>
        <p:spPr>
          <a:xfrm>
            <a:off x="17780000" y="10185400"/>
            <a:ext cx="4686300" cy="1701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400" b="0" i="0" u="none" strike="noStrike" spc="-100" dirty="0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- Reduced false fall-detection rate </a:t>
            </a:r>
          </a:p>
          <a:p>
            <a:pPr lvl="0" algn="l">
              <a:lnSpc>
                <a:spcPct val="116199"/>
              </a:lnSpc>
            </a:pPr>
            <a:r>
              <a:rPr lang="en-US" sz="2400" b="0" i="0" u="none" strike="noStrike" spc="-100" dirty="0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- Faster detection time (1 hour to 3 sec)</a:t>
            </a:r>
          </a:p>
          <a:p>
            <a:pPr lvl="0" algn="l">
              <a:lnSpc>
                <a:spcPct val="116199"/>
              </a:lnSpc>
            </a:pPr>
            <a:r>
              <a:rPr lang="en-US" sz="2400" b="0" i="0" u="none" strike="noStrike" spc="-100" dirty="0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- Extended independent living period</a:t>
            </a:r>
          </a:p>
        </p:txBody>
      </p:sp>
      <p:sp>
        <p:nvSpPr>
          <p:cNvPr id="32" name="TextBox 9">
            <a:extLst>
              <a:ext uri="{FF2B5EF4-FFF2-40B4-BE49-F238E27FC236}">
                <a16:creationId xmlns:a16="http://schemas.microsoft.com/office/drawing/2014/main" id="{E431D8FD-D909-49C7-B16A-D7A196A492D3}"/>
              </a:ext>
            </a:extLst>
          </p:cNvPr>
          <p:cNvSpPr txBox="1"/>
          <p:nvPr/>
        </p:nvSpPr>
        <p:spPr>
          <a:xfrm>
            <a:off x="1816100" y="1422400"/>
            <a:ext cx="6261100" cy="1676400"/>
          </a:xfrm>
          <a:prstGeom prst="rect">
            <a:avLst/>
          </a:prstGeom>
        </p:spPr>
        <p:txBody>
          <a:bodyPr lIns="0" tIns="28448" rIns="0" bIns="28448" rtlCol="0" anchor="ctr"/>
          <a:lstStyle/>
          <a:p>
            <a:pPr lvl="0" algn="l">
              <a:lnSpc>
                <a:spcPct val="102919"/>
              </a:lnSpc>
            </a:pPr>
            <a:r>
              <a:rPr lang="en-US" sz="6600" b="1" i="0" u="none" strike="noStrike" spc="-100" dirty="0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Content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>
            <a:alphaModFix amt="80000"/>
          </a:blip>
          <a:stretch>
            <a:fillRect/>
          </a:stretch>
        </p:blipFill>
        <p:spPr>
          <a:xfrm>
            <a:off x="0" y="17721"/>
            <a:ext cx="24384000" cy="13716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>
            <a:alphaModFix amt="67000"/>
          </a:blip>
          <a:stretch>
            <a:fillRect/>
          </a:stretch>
        </p:blipFill>
        <p:spPr>
          <a:xfrm>
            <a:off x="-7505700" y="7124700"/>
            <a:ext cx="16713200" cy="1421130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8077200" y="5924550"/>
            <a:ext cx="8382000" cy="1866900"/>
          </a:xfrm>
          <a:prstGeom prst="rect">
            <a:avLst/>
          </a:prstGeom>
        </p:spPr>
        <p:txBody>
          <a:bodyPr lIns="0" tIns="133773" rIns="0" bIns="133773" rtlCol="0" anchor="ctr"/>
          <a:lstStyle/>
          <a:p>
            <a:pPr lvl="0" algn="ctr">
              <a:lnSpc>
                <a:spcPct val="99600"/>
              </a:lnSpc>
            </a:pPr>
            <a:r>
              <a:rPr lang="ko-KR" altLang="en-US" sz="10533" b="0" i="0" u="none" strike="noStrike" spc="-400" dirty="0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Demo Video</a:t>
            </a:r>
            <a:endParaRPr lang="en-US" sz="10533" b="0" i="0" u="none" strike="noStrike" spc="-400" dirty="0">
              <a:solidFill>
                <a:srgbClr val="262626"/>
              </a:solidFill>
              <a:latin typeface="Gmarket Sans Medium"/>
              <a:ea typeface="Gmarket Sans Medium"/>
              <a:cs typeface="Gmarket Sans Medium"/>
            </a:endParaR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0600" y="6159500"/>
            <a:ext cx="292100" cy="2921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0600" y="6705600"/>
            <a:ext cx="292100" cy="2921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0600" y="7264400"/>
            <a:ext cx="292100" cy="2921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>
            <a:alphaModFix amt="21000"/>
          </a:blip>
          <a:stretch>
            <a:fillRect/>
          </a:stretch>
        </p:blipFill>
        <p:spPr>
          <a:xfrm>
            <a:off x="-254000" y="1333500"/>
            <a:ext cx="24879300" cy="254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03300" y="419100"/>
            <a:ext cx="2324100" cy="698500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1231900" y="596900"/>
            <a:ext cx="1841500" cy="330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9518"/>
              </a:lnSpc>
            </a:pPr>
            <a:r>
              <a:rPr lang="en-US" sz="1866" b="1" i="0" u="none" strike="noStrike" spc="-100">
                <a:solidFill>
                  <a:srgbClr val="000000"/>
                </a:solidFill>
                <a:latin typeface="Gmarket Sans Bold"/>
                <a:ea typeface="Gmarket Sans Bold"/>
                <a:cs typeface="Gmarket Sans Bold"/>
              </a:rPr>
              <a:t>Team Choco Haim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AC459A5-6901-E955-4860-2D589B51A7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962EABD3-6556-17BD-26B3-9DC51008BD6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alphaModFix amt="80000"/>
          </a:blip>
          <a:stretch>
            <a:fillRect/>
          </a:stretch>
        </p:blipFill>
        <p:spPr>
          <a:xfrm>
            <a:off x="14177" y="-69850"/>
            <a:ext cx="24384000" cy="137160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D694BE6A-6FCF-EA2B-2E8D-E0FAFBCFC30E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67000"/>
          </a:blip>
          <a:stretch>
            <a:fillRect/>
          </a:stretch>
        </p:blipFill>
        <p:spPr>
          <a:xfrm>
            <a:off x="-7505700" y="7124700"/>
            <a:ext cx="16713200" cy="14211300"/>
          </a:xfrm>
          <a:prstGeom prst="rect">
            <a:avLst/>
          </a:prstGeom>
        </p:spPr>
      </p:pic>
      <p:sp>
        <p:nvSpPr>
          <p:cNvPr id="4" name="TextBox 4">
            <a:extLst>
              <a:ext uri="{FF2B5EF4-FFF2-40B4-BE49-F238E27FC236}">
                <a16:creationId xmlns:a16="http://schemas.microsoft.com/office/drawing/2014/main" id="{6211B136-4099-B479-DDC2-459B3CDDF368}"/>
              </a:ext>
            </a:extLst>
          </p:cNvPr>
          <p:cNvSpPr txBox="1"/>
          <p:nvPr/>
        </p:nvSpPr>
        <p:spPr>
          <a:xfrm>
            <a:off x="3886200" y="1117600"/>
            <a:ext cx="18973800" cy="1866900"/>
          </a:xfrm>
          <a:prstGeom prst="rect">
            <a:avLst/>
          </a:prstGeom>
        </p:spPr>
        <p:txBody>
          <a:bodyPr lIns="0" tIns="133773" rIns="0" bIns="133773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7200" b="0" i="0" u="none" strike="noStrike" spc="-400" dirty="0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Research Background and Motivation</a:t>
            </a:r>
            <a:endParaRPr lang="en-US" sz="7200" b="0" i="0" u="none" strike="noStrike" spc="-400" dirty="0">
              <a:solidFill>
                <a:srgbClr val="262626"/>
              </a:solidFill>
              <a:latin typeface="Gmarket Sans Medium"/>
              <a:ea typeface="Gmarket Sans Medium"/>
              <a:cs typeface="Gmarket Sans Medium"/>
            </a:endParaRPr>
          </a:p>
        </p:txBody>
      </p:sp>
      <p:pic>
        <p:nvPicPr>
          <p:cNvPr id="5" name="Picture 5">
            <a:extLst>
              <a:ext uri="{FF2B5EF4-FFF2-40B4-BE49-F238E27FC236}">
                <a16:creationId xmlns:a16="http://schemas.microsoft.com/office/drawing/2014/main" id="{155837D1-55F2-E21E-C216-60D1D582FE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0600" y="6159500"/>
            <a:ext cx="292100" cy="292100"/>
          </a:xfrm>
          <a:prstGeom prst="rect">
            <a:avLst/>
          </a:prstGeom>
        </p:spPr>
      </p:pic>
      <p:pic>
        <p:nvPicPr>
          <p:cNvPr id="6" name="Picture 6">
            <a:extLst>
              <a:ext uri="{FF2B5EF4-FFF2-40B4-BE49-F238E27FC236}">
                <a16:creationId xmlns:a16="http://schemas.microsoft.com/office/drawing/2014/main" id="{EA145FAF-0543-FE29-1113-7E35C69457E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0600" y="6705600"/>
            <a:ext cx="292100" cy="292100"/>
          </a:xfrm>
          <a:prstGeom prst="rect">
            <a:avLst/>
          </a:prstGeom>
        </p:spPr>
      </p:pic>
      <p:pic>
        <p:nvPicPr>
          <p:cNvPr id="7" name="Picture 7">
            <a:extLst>
              <a:ext uri="{FF2B5EF4-FFF2-40B4-BE49-F238E27FC236}">
                <a16:creationId xmlns:a16="http://schemas.microsoft.com/office/drawing/2014/main" id="{4B1E448A-04B9-58EF-22ED-CBBFEE4CDA8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0600" y="7264400"/>
            <a:ext cx="292100" cy="292100"/>
          </a:xfrm>
          <a:prstGeom prst="rect">
            <a:avLst/>
          </a:prstGeom>
        </p:spPr>
      </p:pic>
      <p:pic>
        <p:nvPicPr>
          <p:cNvPr id="8" name="Picture 8">
            <a:extLst>
              <a:ext uri="{FF2B5EF4-FFF2-40B4-BE49-F238E27FC236}">
                <a16:creationId xmlns:a16="http://schemas.microsoft.com/office/drawing/2014/main" id="{7C5D15DE-7D6C-E297-AC55-AE45966803C0}"/>
              </a:ext>
            </a:extLst>
          </p:cNvPr>
          <p:cNvPicPr>
            <a:picLocks noChangeAspect="1"/>
          </p:cNvPicPr>
          <p:nvPr/>
        </p:nvPicPr>
        <p:blipFill>
          <a:blip r:embed="rId7">
            <a:alphaModFix amt="21000"/>
          </a:blip>
          <a:stretch>
            <a:fillRect/>
          </a:stretch>
        </p:blipFill>
        <p:spPr>
          <a:xfrm>
            <a:off x="-254000" y="1333500"/>
            <a:ext cx="24879300" cy="25400"/>
          </a:xfrm>
          <a:prstGeom prst="rect">
            <a:avLst/>
          </a:prstGeom>
        </p:spPr>
      </p:pic>
      <p:pic>
        <p:nvPicPr>
          <p:cNvPr id="9" name="Picture 9">
            <a:extLst>
              <a:ext uri="{FF2B5EF4-FFF2-40B4-BE49-F238E27FC236}">
                <a16:creationId xmlns:a16="http://schemas.microsoft.com/office/drawing/2014/main" id="{B5C6F6A8-9ACD-3B29-0B21-EAB8D6C4A9A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3300" y="419100"/>
            <a:ext cx="2324100" cy="698500"/>
          </a:xfrm>
          <a:prstGeom prst="rect">
            <a:avLst/>
          </a:prstGeom>
        </p:spPr>
      </p:pic>
      <p:sp>
        <p:nvSpPr>
          <p:cNvPr id="10" name="TextBox 10">
            <a:extLst>
              <a:ext uri="{FF2B5EF4-FFF2-40B4-BE49-F238E27FC236}">
                <a16:creationId xmlns:a16="http://schemas.microsoft.com/office/drawing/2014/main" id="{840E4D5D-156A-082F-235F-AF4F9D8D0B69}"/>
              </a:ext>
            </a:extLst>
          </p:cNvPr>
          <p:cNvSpPr txBox="1"/>
          <p:nvPr/>
        </p:nvSpPr>
        <p:spPr>
          <a:xfrm>
            <a:off x="1231900" y="596900"/>
            <a:ext cx="1841500" cy="330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9518"/>
              </a:lnSpc>
            </a:pPr>
            <a:r>
              <a:rPr lang="en-US" sz="1866" b="1" i="0" u="none" strike="noStrike" spc="-100" dirty="0" err="1">
                <a:solidFill>
                  <a:srgbClr val="000000"/>
                </a:solidFill>
                <a:latin typeface="Gmarket Sans Bold"/>
                <a:ea typeface="Gmarket Sans Bold"/>
                <a:cs typeface="Gmarket Sans Bold"/>
              </a:rPr>
              <a:t>Team Choco Haim</a:t>
            </a:r>
            <a:endParaRPr lang="en-US" sz="1866" b="1" i="0" u="none" strike="noStrike" spc="-100" dirty="0">
              <a:solidFill>
                <a:srgbClr val="000000"/>
              </a:solidFill>
              <a:latin typeface="Gmarket Sans Bold"/>
              <a:ea typeface="Gmarket Sans Bold"/>
              <a:cs typeface="Gmarket Sans Bold"/>
            </a:endParaRP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D80FFEFE-72DD-F008-3292-AC3FB7D37F2E}"/>
              </a:ext>
            </a:extLst>
          </p:cNvPr>
          <p:cNvSpPr txBox="1"/>
          <p:nvPr/>
        </p:nvSpPr>
        <p:spPr>
          <a:xfrm>
            <a:off x="3257550" y="5639981"/>
            <a:ext cx="6007100" cy="3340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32800"/>
              </a:lnSpc>
            </a:pPr>
            <a:r>
              <a:rPr lang="en-US" sz="2800" b="0" i="0" u="none" strike="noStrike" spc="-100" dirty="0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- Fall incidence among adults 65+ reaches 20%</a:t>
            </a:r>
          </a:p>
          <a:p>
            <a:pPr lvl="0" algn="ctr">
              <a:lnSpc>
                <a:spcPct val="132800"/>
              </a:lnSpc>
            </a:pPr>
            <a:r>
              <a:rPr lang="en-US" altLang="ko-KR" sz="2800" b="0" i="0" u="none" strike="noStrike" spc="-100" dirty="0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- Falls are a leading cause of injury in older adults</a:t>
            </a:r>
            <a:endParaRPr lang="en-US" sz="2800" b="0" i="0" u="none" strike="noStrike" spc="-100" dirty="0">
              <a:solidFill>
                <a:srgbClr val="262626"/>
              </a:solidFill>
              <a:latin typeface="Gmarket Sans Medium"/>
              <a:ea typeface="Gmarket Sans Medium"/>
              <a:cs typeface="Gmarket Sans Medium"/>
            </a:endParaRPr>
          </a:p>
          <a:p>
            <a:pPr marL="457200" lvl="0" indent="-457200" algn="ctr">
              <a:lnSpc>
                <a:spcPct val="132800"/>
              </a:lnSpc>
              <a:buFontTx/>
              <a:buChar char="-"/>
            </a:pPr>
            <a:r>
              <a:rPr lang="ko-KR" altLang="en-US" sz="2800" spc="-100" dirty="0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Difficulty responding immediately due to the rise in elderly living alone</a:t>
            </a:r>
            <a:endParaRPr lang="en-US" altLang="ko-KR" sz="2800" spc="-100" dirty="0">
              <a:solidFill>
                <a:srgbClr val="262626"/>
              </a:solidFill>
              <a:latin typeface="Gmarket Sans Medium"/>
              <a:ea typeface="Gmarket Sans Medium"/>
              <a:cs typeface="Gmarket Sans Medium"/>
            </a:endParaRPr>
          </a:p>
          <a:p>
            <a:pPr marL="457200" lvl="0" indent="-457200" algn="ctr">
              <a:lnSpc>
                <a:spcPct val="132800"/>
              </a:lnSpc>
              <a:buFontTx/>
              <a:buChar char="-"/>
            </a:pPr>
            <a:r>
              <a:rPr lang="ko-KR" altLang="en-US" sz="2800" b="0" i="0" u="none" strike="noStrike" spc="-100" dirty="0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Rapid detection and response after a fall is critical to improving survival rates</a:t>
            </a:r>
            <a:endParaRPr lang="en-US" sz="2800" b="0" i="0" u="none" strike="noStrike" spc="-100" dirty="0">
              <a:solidFill>
                <a:srgbClr val="262626"/>
              </a:solidFill>
              <a:latin typeface="Gmarket Sans Medium"/>
              <a:ea typeface="Gmarket Sans Medium"/>
              <a:cs typeface="Gmarket Sans Medium"/>
            </a:endParaRP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B0226AB1-0AB3-3DF8-9182-C86CFD9D11A1}"/>
              </a:ext>
            </a:extLst>
          </p:cNvPr>
          <p:cNvSpPr txBox="1"/>
          <p:nvPr/>
        </p:nvSpPr>
        <p:spPr>
          <a:xfrm>
            <a:off x="3276600" y="4800600"/>
            <a:ext cx="5969000" cy="1092200"/>
          </a:xfrm>
          <a:prstGeom prst="rect">
            <a:avLst/>
          </a:prstGeom>
        </p:spPr>
        <p:txBody>
          <a:bodyPr lIns="0" tIns="0" rIns="0" bIns="20320" rtlCol="0" anchor="b"/>
          <a:lstStyle/>
          <a:p>
            <a:pPr lvl="0" algn="ctr">
              <a:lnSpc>
                <a:spcPct val="107899"/>
              </a:lnSpc>
            </a:pPr>
            <a:r>
              <a:rPr lang="en-US" altLang="ko-KR" sz="3200" b="0" i="0" u="none" strike="noStrike" spc="-100" dirty="0">
                <a:solidFill>
                  <a:srgbClr val="262626"/>
                </a:solidFill>
                <a:latin typeface="Gmarket Sans Bold"/>
                <a:ea typeface="Gmarket Sans Bold"/>
                <a:cs typeface="Gmarket Sans Bold"/>
              </a:rPr>
              <a:t>20% Fall Incidence Among Adults 65+ </a:t>
            </a:r>
            <a:endParaRPr lang="en-US" altLang="ko-KR" sz="3200" spc="-100" dirty="0">
              <a:solidFill>
                <a:srgbClr val="262626"/>
              </a:solidFill>
              <a:latin typeface="Gmarket Sans Bold"/>
              <a:ea typeface="Gmarket Sans Bold"/>
              <a:cs typeface="Gmarket Sans Bold"/>
            </a:endParaRPr>
          </a:p>
          <a:p>
            <a:pPr lvl="0" algn="ctr">
              <a:lnSpc>
                <a:spcPct val="107899"/>
              </a:lnSpc>
            </a:pPr>
            <a:endParaRPr lang="en-US" altLang="ko-KR" sz="3200" b="0" i="0" u="none" strike="noStrike" spc="-100" dirty="0">
              <a:solidFill>
                <a:srgbClr val="262626"/>
              </a:solidFill>
              <a:latin typeface="Gmarket Sans Bold"/>
              <a:ea typeface="Gmarket Sans Bold"/>
              <a:cs typeface="Gmarket Sans Bold"/>
            </a:endParaRP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9363EBA9-7D7E-D6E4-486C-1A767E973A4E}"/>
              </a:ext>
            </a:extLst>
          </p:cNvPr>
          <p:cNvSpPr txBox="1"/>
          <p:nvPr/>
        </p:nvSpPr>
        <p:spPr>
          <a:xfrm>
            <a:off x="9601200" y="5613400"/>
            <a:ext cx="6413500" cy="5613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32800"/>
              </a:lnSpc>
            </a:pPr>
            <a:r>
              <a:rPr lang="en-US" sz="2800" b="0" i="0" u="none" strike="noStrike" spc="-100" dirty="0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- Continuously rising number of single elderly households </a:t>
            </a:r>
          </a:p>
          <a:p>
            <a:pPr lvl="0" algn="ctr">
              <a:lnSpc>
                <a:spcPct val="132800"/>
              </a:lnSpc>
            </a:pPr>
            <a:r>
              <a:rPr lang="en-US" sz="2800" b="0" i="0" u="none" strike="noStrike" spc="-100" dirty="0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- Shortage of 24-hour caregivers and cost issues </a:t>
            </a:r>
          </a:p>
          <a:p>
            <a:pPr marL="457200" lvl="0" indent="-457200" algn="ctr">
              <a:lnSpc>
                <a:spcPct val="132800"/>
              </a:lnSpc>
              <a:buFontTx/>
              <a:buChar char="-"/>
            </a:pPr>
            <a:r>
              <a:rPr lang="ko-KR" altLang="en-US" sz="2800" b="0" i="0" u="none" strike="noStrike" spc="-100" dirty="0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Risk of being left unattended for 1-2+ hours after a fall</a:t>
            </a:r>
            <a:endParaRPr lang="en-US" altLang="ko-KR" sz="2800" b="0" i="0" u="none" strike="noStrike" spc="-100" dirty="0">
              <a:solidFill>
                <a:srgbClr val="262626"/>
              </a:solidFill>
              <a:latin typeface="Gmarket Sans Medium"/>
              <a:ea typeface="Gmarket Sans Medium"/>
              <a:cs typeface="Gmarket Sans Medium"/>
            </a:endParaRPr>
          </a:p>
          <a:p>
            <a:pPr lvl="0" algn="ctr">
              <a:lnSpc>
                <a:spcPct val="132800"/>
              </a:lnSpc>
            </a:pPr>
            <a:r>
              <a:rPr lang="en-US" sz="2800" b="0" i="0" u="none" strike="noStrike" spc="-100" dirty="0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- Growing need for a real-time monitoring system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15ADB35F-31E1-3A4A-1474-8B4D6268A9A6}"/>
              </a:ext>
            </a:extLst>
          </p:cNvPr>
          <p:cNvSpPr txBox="1"/>
          <p:nvPr/>
        </p:nvSpPr>
        <p:spPr>
          <a:xfrm>
            <a:off x="9613900" y="4800600"/>
            <a:ext cx="5969000" cy="571500"/>
          </a:xfrm>
          <a:prstGeom prst="rect">
            <a:avLst/>
          </a:prstGeom>
        </p:spPr>
        <p:txBody>
          <a:bodyPr lIns="0" tIns="0" rIns="0" bIns="20320" rtlCol="0" anchor="b"/>
          <a:lstStyle/>
          <a:p>
            <a:pPr lvl="0" algn="ctr">
              <a:lnSpc>
                <a:spcPct val="107899"/>
              </a:lnSpc>
            </a:pPr>
            <a:r>
              <a:rPr lang="ko-KR" altLang="en-US" sz="3200" b="0" i="0" u="none" strike="noStrike" spc="-100" dirty="0">
                <a:solidFill>
                  <a:srgbClr val="262626"/>
                </a:solidFill>
                <a:latin typeface="Gmarket Sans Bold"/>
                <a:ea typeface="Gmarket Sans Bold"/>
                <a:cs typeface="Gmarket Sans Bold"/>
              </a:rPr>
              <a:t>Rising Trend of Elderly Living Alone</a:t>
            </a:r>
            <a:endParaRPr lang="en-US" sz="3200" b="0" i="0" u="none" strike="noStrike" spc="-100" dirty="0">
              <a:solidFill>
                <a:srgbClr val="262626"/>
              </a:solidFill>
              <a:latin typeface="Gmarket Sans Bold"/>
              <a:ea typeface="Gmarket Sans Bold"/>
              <a:cs typeface="Gmarket Sans Bold"/>
            </a:endParaRP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64D90835-A58B-302D-7F30-89370B441146}"/>
              </a:ext>
            </a:extLst>
          </p:cNvPr>
          <p:cNvSpPr txBox="1"/>
          <p:nvPr/>
        </p:nvSpPr>
        <p:spPr>
          <a:xfrm>
            <a:off x="15951200" y="5613400"/>
            <a:ext cx="5994400" cy="5613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32800"/>
              </a:lnSpc>
            </a:pPr>
            <a:r>
              <a:rPr lang="en-US" sz="2800" b="0" i="0" u="none" strike="noStrike" spc="-100" dirty="0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- Low usage rate due to uncomfortable fit</a:t>
            </a:r>
          </a:p>
          <a:p>
            <a:pPr lvl="0" algn="ctr">
              <a:lnSpc>
                <a:spcPct val="132800"/>
              </a:lnSpc>
            </a:pPr>
            <a:r>
              <a:rPr lang="en-US" sz="2800" b="0" i="0" u="none" strike="noStrike" spc="-100" dirty="0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- Difficulty charging and managing batteries</a:t>
            </a:r>
          </a:p>
          <a:p>
            <a:pPr lvl="0" algn="ctr">
              <a:lnSpc>
                <a:spcPct val="132800"/>
              </a:lnSpc>
            </a:pPr>
            <a:r>
              <a:rPr lang="en-US" altLang="ko-KR" sz="2800" b="0" i="0" u="none" strike="noStrike" spc="-100" dirty="0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- Monitoring impossible if the device is refused</a:t>
            </a:r>
          </a:p>
          <a:p>
            <a:pPr lvl="0" algn="ctr">
              <a:lnSpc>
                <a:spcPct val="132800"/>
              </a:lnSpc>
            </a:pPr>
            <a:r>
              <a:rPr lang="en-US" altLang="ko-KR" sz="2800" spc="-100" dirty="0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- Camera-based contactless monitoring emerging as an alternative</a:t>
            </a:r>
            <a:endParaRPr lang="en-US" altLang="ko-KR" sz="2800" b="0" i="0" u="none" strike="noStrike" spc="-100" dirty="0">
              <a:solidFill>
                <a:srgbClr val="262626"/>
              </a:solidFill>
              <a:latin typeface="Gmarket Sans Medium"/>
              <a:ea typeface="Gmarket Sans Medium"/>
              <a:cs typeface="Gmarket Sans Medium"/>
            </a:endParaRP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25E233A3-C8FB-080F-13BB-F6456860548D}"/>
              </a:ext>
            </a:extLst>
          </p:cNvPr>
          <p:cNvSpPr txBox="1"/>
          <p:nvPr/>
        </p:nvSpPr>
        <p:spPr>
          <a:xfrm>
            <a:off x="15963900" y="4800600"/>
            <a:ext cx="5969000" cy="571500"/>
          </a:xfrm>
          <a:prstGeom prst="rect">
            <a:avLst/>
          </a:prstGeom>
        </p:spPr>
        <p:txBody>
          <a:bodyPr lIns="0" tIns="0" rIns="0" bIns="20320" rtlCol="0" anchor="b"/>
          <a:lstStyle/>
          <a:p>
            <a:pPr lvl="0" algn="ctr">
              <a:lnSpc>
                <a:spcPct val="107899"/>
              </a:lnSpc>
            </a:pPr>
            <a:r>
              <a:rPr lang="ko-KR" altLang="en-US" sz="3200" b="0" i="0" u="none" strike="noStrike" spc="-100" dirty="0">
                <a:solidFill>
                  <a:srgbClr val="262626"/>
                </a:solidFill>
                <a:latin typeface="Gmarket Sans Bold"/>
                <a:ea typeface="Gmarket Sans Bold"/>
                <a:cs typeface="Gmarket Sans Bold"/>
              </a:rPr>
              <a:t>Limitations of Existing Wearable Devices</a:t>
            </a:r>
            <a:endParaRPr lang="en-US" sz="3200" b="0" i="0" u="none" strike="noStrike" spc="-100" dirty="0">
              <a:solidFill>
                <a:srgbClr val="262626"/>
              </a:solidFill>
              <a:latin typeface="Gmarket Sans Bold"/>
              <a:ea typeface="Gmarket Sans Bold"/>
              <a:cs typeface="Gmarket Sans Bold"/>
            </a:endParaRPr>
          </a:p>
        </p:txBody>
      </p:sp>
    </p:spTree>
    <p:extLst>
      <p:ext uri="{BB962C8B-B14F-4D97-AF65-F5344CB8AC3E}">
        <p14:creationId xmlns:p14="http://schemas.microsoft.com/office/powerpoint/2010/main" val="18677660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alphaModFix amt="80000"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>
            <a:alphaModFix amt="67000"/>
          </a:blip>
          <a:stretch>
            <a:fillRect/>
          </a:stretch>
        </p:blipFill>
        <p:spPr>
          <a:xfrm>
            <a:off x="-7505700" y="7124700"/>
            <a:ext cx="16713200" cy="1421130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2520950" y="1619250"/>
            <a:ext cx="18973800" cy="1866900"/>
          </a:xfrm>
          <a:prstGeom prst="rect">
            <a:avLst/>
          </a:prstGeom>
        </p:spPr>
        <p:txBody>
          <a:bodyPr lIns="0" tIns="133773" rIns="0" bIns="133773" rtlCol="0" anchor="ctr"/>
          <a:lstStyle/>
          <a:p>
            <a:pPr lvl="0" algn="l">
              <a:lnSpc>
                <a:spcPct val="99600"/>
              </a:lnSpc>
            </a:pPr>
            <a:r>
              <a:rPr lang="en-US" sz="10533" b="0" i="0" u="none" strike="noStrike" spc="-400" dirty="0" err="1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System Overview</a:t>
            </a:r>
            <a:endParaRPr lang="en-US" sz="10533" b="0" i="0" u="none" strike="noStrike" spc="-400" dirty="0">
              <a:solidFill>
                <a:srgbClr val="262626"/>
              </a:solidFill>
              <a:latin typeface="Gmarket Sans Medium"/>
              <a:ea typeface="Gmarket Sans Medium"/>
              <a:cs typeface="Gmarket Sans Medium"/>
            </a:endParaR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0600" y="6159500"/>
            <a:ext cx="292100" cy="2921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0600" y="6705600"/>
            <a:ext cx="292100" cy="2921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0600" y="7264400"/>
            <a:ext cx="292100" cy="2921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7">
            <a:alphaModFix amt="21000"/>
          </a:blip>
          <a:stretch>
            <a:fillRect/>
          </a:stretch>
        </p:blipFill>
        <p:spPr>
          <a:xfrm>
            <a:off x="-254000" y="1333500"/>
            <a:ext cx="24879300" cy="254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3300" y="419100"/>
            <a:ext cx="2324100" cy="698500"/>
          </a:xfrm>
          <a:prstGeom prst="rect">
            <a:avLst/>
          </a:prstGeom>
        </p:spPr>
      </p:pic>
      <p:sp>
        <p:nvSpPr>
          <p:cNvPr id="13" name="TextBox 13"/>
          <p:cNvSpPr txBox="1"/>
          <p:nvPr/>
        </p:nvSpPr>
        <p:spPr>
          <a:xfrm>
            <a:off x="1828800" y="5880100"/>
            <a:ext cx="7313723" cy="4483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32800"/>
              </a:lnSpc>
            </a:pPr>
            <a:r>
              <a:rPr lang="en-US" sz="2800" b="0" i="0" u="none" strike="noStrike" spc="-100" dirty="0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- Contactless monitoring via CCTV cameras</a:t>
            </a:r>
          </a:p>
          <a:p>
            <a:pPr lvl="0" algn="ctr">
              <a:lnSpc>
                <a:spcPct val="132800"/>
              </a:lnSpc>
            </a:pPr>
            <a:r>
              <a:rPr lang="en-US" sz="2800" b="0" i="0" u="none" strike="noStrike" spc="-100" dirty="0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- Extracting 17 COCO keypoints with YOLOv11n-pose</a:t>
            </a:r>
          </a:p>
          <a:p>
            <a:pPr lvl="0" algn="ctr">
              <a:lnSpc>
                <a:spcPct val="132800"/>
              </a:lnSpc>
            </a:pPr>
            <a:r>
              <a:rPr lang="en-US" sz="2800" b="0" i="0" u="none" strike="noStrike" spc="-100" dirty="0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- Predicting fall probability with an ST-GCN model</a:t>
            </a:r>
          </a:p>
          <a:p>
            <a:pPr lvl="0" algn="ctr">
              <a:lnSpc>
                <a:spcPct val="132800"/>
              </a:lnSpc>
            </a:pPr>
            <a:r>
              <a:rPr lang="en-US" sz="2800" b="0" i="0" u="none" strike="noStrike" spc="-100" dirty="0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- Handling the grey zone with a Physics Rescue filter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501161" y="5067300"/>
            <a:ext cx="5969000" cy="571500"/>
          </a:xfrm>
          <a:prstGeom prst="rect">
            <a:avLst/>
          </a:prstGeom>
        </p:spPr>
        <p:txBody>
          <a:bodyPr lIns="0" tIns="0" rIns="0" bIns="20320" rtlCol="0" anchor="b"/>
          <a:lstStyle/>
          <a:p>
            <a:pPr lvl="0" algn="ctr">
              <a:lnSpc>
                <a:spcPct val="107899"/>
              </a:lnSpc>
            </a:pPr>
            <a:r>
              <a:rPr lang="en-US" sz="3200" b="0" i="0" u="none" strike="noStrike" spc="-100" dirty="0">
                <a:solidFill>
                  <a:srgbClr val="262626"/>
                </a:solidFill>
                <a:latin typeface="Gmarket Sans Bold"/>
                <a:ea typeface="Gmarket Sans Bold"/>
                <a:cs typeface="Gmarket Sans Bold"/>
              </a:rPr>
              <a:t>Camera-Based</a:t>
            </a:r>
          </a:p>
          <a:p>
            <a:pPr lvl="0" algn="ctr">
              <a:lnSpc>
                <a:spcPct val="107899"/>
              </a:lnSpc>
            </a:pPr>
            <a:r>
              <a:rPr lang="en-US" sz="3200" b="0" i="0" u="none" strike="noStrike" spc="-100" dirty="0">
                <a:solidFill>
                  <a:srgbClr val="262626"/>
                </a:solidFill>
                <a:latin typeface="Gmarket Sans Bold"/>
                <a:ea typeface="Gmarket Sans Bold"/>
                <a:cs typeface="Gmarket Sans Bold"/>
              </a:rPr>
              <a:t>Fall Detection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396522" y="5880100"/>
            <a:ext cx="6414977" cy="3911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32800"/>
              </a:lnSpc>
            </a:pPr>
            <a:r>
              <a:rPr lang="en-US" sz="2800" b="0" i="0" u="none" strike="noStrike" spc="-100" dirty="0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- Real-time Edge AI processing (~19 FPS)</a:t>
            </a:r>
          </a:p>
          <a:p>
            <a:pPr lvl="0" algn="ctr">
              <a:lnSpc>
                <a:spcPct val="132800"/>
              </a:lnSpc>
            </a:pPr>
            <a:r>
              <a:rPr lang="en-US" sz="2800" b="0" i="0" u="none" strike="noStrike" spc="-100" dirty="0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- 30-frame sliding window method</a:t>
            </a:r>
          </a:p>
          <a:p>
            <a:pPr lvl="0" algn="ctr">
              <a:lnSpc>
                <a:spcPct val="132800"/>
              </a:lnSpc>
            </a:pPr>
            <a:r>
              <a:rPr lang="en-US" sz="2800" b="0" i="0" u="none" strike="noStrike" spc="-100" dirty="0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- Runs on Jetson Orin Nano Super</a:t>
            </a:r>
          </a:p>
          <a:p>
            <a:pPr lvl="0" algn="ctr">
              <a:lnSpc>
                <a:spcPct val="132800"/>
              </a:lnSpc>
            </a:pPr>
            <a:r>
              <a:rPr lang="en-US" sz="2800" b="0" i="0" u="none" strike="noStrike" spc="-100" dirty="0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- Live video via MJPEG streaming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409223" y="5067300"/>
            <a:ext cx="5969000" cy="571500"/>
          </a:xfrm>
          <a:prstGeom prst="rect">
            <a:avLst/>
          </a:prstGeom>
        </p:spPr>
        <p:txBody>
          <a:bodyPr lIns="0" tIns="0" rIns="0" bIns="20320" rtlCol="0" anchor="b"/>
          <a:lstStyle/>
          <a:p>
            <a:pPr lvl="0" algn="ctr">
              <a:lnSpc>
                <a:spcPct val="107899"/>
              </a:lnSpc>
            </a:pPr>
            <a:r>
              <a:rPr lang="en-US" sz="3200" b="0" i="0" u="none" strike="noStrike" spc="-100">
                <a:solidFill>
                  <a:srgbClr val="262626"/>
                </a:solidFill>
                <a:latin typeface="Gmarket Sans Bold"/>
                <a:ea typeface="Gmarket Sans Bold"/>
                <a:cs typeface="Gmarket Sans Bold"/>
              </a:rPr>
              <a:t>24/7 Real-Time Monitoring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6304585" y="5880100"/>
            <a:ext cx="5994400" cy="2768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32800"/>
              </a:lnSpc>
            </a:pPr>
            <a:r>
              <a:rPr lang="en-US" sz="2800" b="0" i="0" u="none" strike="noStrike" spc="-100" dirty="0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- Sends an alert upon fall detection</a:t>
            </a:r>
          </a:p>
          <a:p>
            <a:pPr lvl="0" algn="ctr">
              <a:lnSpc>
                <a:spcPct val="132800"/>
              </a:lnSpc>
            </a:pPr>
            <a:r>
              <a:rPr lang="en-US" sz="2800" b="0" i="0" u="none" strike="noStrike" spc="-100" dirty="0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- Supports push notifications, SMS, and KakaoTalk</a:t>
            </a:r>
          </a:p>
          <a:p>
            <a:pPr lvl="0" algn="ctr">
              <a:lnSpc>
                <a:spcPct val="132800"/>
              </a:lnSpc>
            </a:pPr>
            <a:r>
              <a:rPr lang="en-US" sz="2800" b="0" i="0" u="none" strike="noStrike" spc="-100" dirty="0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- Instant notification to caregivers and administrators</a:t>
            </a:r>
          </a:p>
          <a:p>
            <a:pPr lvl="0" algn="ctr">
              <a:lnSpc>
                <a:spcPct val="132800"/>
              </a:lnSpc>
            </a:pPr>
            <a:r>
              <a:rPr lang="en-US" sz="2800" b="0" i="0" u="none" strike="noStrike" spc="-100" dirty="0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- Provides fall location and time information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6317285" y="5067300"/>
            <a:ext cx="5969000" cy="571500"/>
          </a:xfrm>
          <a:prstGeom prst="rect">
            <a:avLst/>
          </a:prstGeom>
        </p:spPr>
        <p:txBody>
          <a:bodyPr lIns="0" tIns="0" rIns="0" bIns="20320" rtlCol="0" anchor="b"/>
          <a:lstStyle/>
          <a:p>
            <a:pPr lvl="0" algn="ctr">
              <a:lnSpc>
                <a:spcPct val="107899"/>
              </a:lnSpc>
            </a:pPr>
            <a:r>
              <a:rPr lang="en-US" sz="3200" b="0" i="0" u="none" strike="noStrike" spc="-100" dirty="0">
                <a:solidFill>
                  <a:srgbClr val="262626"/>
                </a:solidFill>
                <a:latin typeface="Gmarket Sans Bold"/>
                <a:ea typeface="Gmarket Sans Bold"/>
                <a:cs typeface="Gmarket Sans Bold"/>
              </a:rPr>
              <a:t>3-Stage Alert System</a:t>
            </a:r>
          </a:p>
        </p:txBody>
      </p:sp>
      <p:sp>
        <p:nvSpPr>
          <p:cNvPr id="19" name="TextBox 10">
            <a:extLst>
              <a:ext uri="{FF2B5EF4-FFF2-40B4-BE49-F238E27FC236}">
                <a16:creationId xmlns:a16="http://schemas.microsoft.com/office/drawing/2014/main" id="{B41FCC08-F902-A00B-AB31-2BA9A04F6616}"/>
              </a:ext>
            </a:extLst>
          </p:cNvPr>
          <p:cNvSpPr txBox="1"/>
          <p:nvPr/>
        </p:nvSpPr>
        <p:spPr>
          <a:xfrm>
            <a:off x="1231900" y="596900"/>
            <a:ext cx="1841500" cy="330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9518"/>
              </a:lnSpc>
            </a:pPr>
            <a:r>
              <a:rPr lang="en-US" sz="1866" b="1" i="0" u="none" strike="noStrike" spc="-100" dirty="0" err="1">
                <a:solidFill>
                  <a:srgbClr val="000000"/>
                </a:solidFill>
                <a:latin typeface="Gmarket Sans Bold"/>
                <a:ea typeface="Gmarket Sans Bold"/>
                <a:cs typeface="Gmarket Sans Bold"/>
              </a:rPr>
              <a:t>Team Choco Haim</a:t>
            </a:r>
            <a:endParaRPr lang="en-US" sz="1866" b="1" i="0" u="none" strike="noStrike" spc="-100" dirty="0">
              <a:solidFill>
                <a:srgbClr val="000000"/>
              </a:solidFill>
              <a:latin typeface="Gmarket Sans Bold"/>
              <a:ea typeface="Gmarket Sans Bold"/>
              <a:cs typeface="Gmarket Sans Bold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80000"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800" y="5219700"/>
            <a:ext cx="8915400" cy="204470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2616200" y="1841500"/>
            <a:ext cx="8089900" cy="8813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347700" y="5219700"/>
            <a:ext cx="8915400" cy="2044700"/>
          </a:xfrm>
          <a:prstGeom prst="rect">
            <a:avLst/>
          </a:prstGeom>
        </p:spPr>
      </p:pic>
      <p:sp>
        <p:nvSpPr>
          <p:cNvPr id="6" name="TextBox 6"/>
          <p:cNvSpPr txBox="1"/>
          <p:nvPr/>
        </p:nvSpPr>
        <p:spPr>
          <a:xfrm>
            <a:off x="8001000" y="1841500"/>
            <a:ext cx="19608800" cy="8813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endParaRPr/>
          </a:p>
        </p:txBody>
      </p:sp>
      <p:sp>
        <p:nvSpPr>
          <p:cNvPr id="7" name="TextBox 7"/>
          <p:cNvSpPr txBox="1"/>
          <p:nvPr/>
        </p:nvSpPr>
        <p:spPr>
          <a:xfrm>
            <a:off x="3035300" y="7804150"/>
            <a:ext cx="7378700" cy="2616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23669"/>
              </a:lnSpc>
            </a:pPr>
            <a:r>
              <a:rPr lang="en-US" sz="2800" b="0" i="0" u="none" strike="noStrike" spc="-100" dirty="0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- Smartwatch: detects only after a fall, high resistance to wearing</a:t>
            </a:r>
          </a:p>
          <a:p>
            <a:pPr lvl="0" algn="l">
              <a:lnSpc>
                <a:spcPct val="123669"/>
              </a:lnSpc>
            </a:pPr>
            <a:r>
              <a:rPr lang="en-US" sz="2800" b="0" i="0" u="none" strike="noStrike" spc="-100" dirty="0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- Home CCTV: recording only, no AI or alerts</a:t>
            </a:r>
          </a:p>
          <a:p>
            <a:pPr lvl="0" algn="l">
              <a:lnSpc>
                <a:spcPct val="123669"/>
              </a:lnSpc>
            </a:pPr>
            <a:r>
              <a:rPr lang="en-US" sz="2800" b="0" i="0" u="none" strike="noStrike" spc="-100" dirty="0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- Hospital rehab: 1-2 visits/week, no daily monitoring</a:t>
            </a:r>
          </a:p>
          <a:p>
            <a:pPr lvl="0" algn="l">
              <a:lnSpc>
                <a:spcPct val="123669"/>
              </a:lnSpc>
            </a:pPr>
            <a:r>
              <a:rPr lang="en-US" sz="2800" b="0" i="0" u="none" strike="noStrike" spc="-100" dirty="0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- Detection mat: fixed spots only, not portable, no rehab function</a:t>
            </a: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5">
            <a:alphaModFix amt="70000"/>
          </a:blip>
          <a:stretch>
            <a:fillRect/>
          </a:stretch>
        </p:blipFill>
        <p:spPr>
          <a:xfrm rot="5400000">
            <a:off x="6121400" y="8140700"/>
            <a:ext cx="1092200" cy="127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5">
            <a:alphaModFix amt="70000"/>
          </a:blip>
          <a:stretch>
            <a:fillRect/>
          </a:stretch>
        </p:blipFill>
        <p:spPr>
          <a:xfrm rot="5400000">
            <a:off x="17259300" y="8140700"/>
            <a:ext cx="1092200" cy="127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734800" y="5994400"/>
            <a:ext cx="1003300" cy="1905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0800000">
            <a:off x="11734800" y="6311900"/>
            <a:ext cx="1003300" cy="190500"/>
          </a:xfrm>
          <a:prstGeom prst="rect">
            <a:avLst/>
          </a:prstGeom>
        </p:spPr>
      </p:pic>
      <p:sp>
        <p:nvSpPr>
          <p:cNvPr id="12" name="TextBox 12"/>
          <p:cNvSpPr txBox="1"/>
          <p:nvPr/>
        </p:nvSpPr>
        <p:spPr>
          <a:xfrm>
            <a:off x="2971800" y="5956300"/>
            <a:ext cx="7404100" cy="571500"/>
          </a:xfrm>
          <a:prstGeom prst="rect">
            <a:avLst/>
          </a:prstGeom>
        </p:spPr>
        <p:txBody>
          <a:bodyPr lIns="0" tIns="20320" rIns="0" bIns="20320" rtlCol="0" anchor="ctr"/>
          <a:lstStyle/>
          <a:p>
            <a:pPr lvl="0" algn="ctr">
              <a:lnSpc>
                <a:spcPct val="107899"/>
              </a:lnSpc>
            </a:pPr>
            <a:r>
              <a:rPr lang="en-US" sz="3200" b="0" i="0" u="none" strike="noStrike" spc="-100">
                <a:solidFill>
                  <a:srgbClr val="262626"/>
                </a:solidFill>
                <a:latin typeface="Gmarket Sans Bold"/>
                <a:ea typeface="Gmarket Sans Bold"/>
                <a:cs typeface="Gmarket Sans Bold"/>
              </a:rPr>
              <a:t>Limitations of Existing Solutions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4109700" y="5956300"/>
            <a:ext cx="7404100" cy="571500"/>
          </a:xfrm>
          <a:prstGeom prst="rect">
            <a:avLst/>
          </a:prstGeom>
        </p:spPr>
        <p:txBody>
          <a:bodyPr lIns="0" tIns="20320" rIns="0" bIns="20320" rtlCol="0" anchor="ctr"/>
          <a:lstStyle/>
          <a:p>
            <a:pPr lvl="0" algn="ctr">
              <a:lnSpc>
                <a:spcPct val="107899"/>
              </a:lnSpc>
            </a:pPr>
            <a:r>
              <a:rPr lang="en-US" sz="3200" b="0" i="0" u="none" strike="noStrike" spc="-100">
                <a:solidFill>
                  <a:srgbClr val="262626"/>
                </a:solidFill>
                <a:latin typeface="Gmarket Sans Bold"/>
                <a:ea typeface="Gmarket Sans Bold"/>
                <a:cs typeface="Gmarket Sans Bold"/>
              </a:rPr>
              <a:t>MobiCare's Innovative Improvements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3779500" y="7823200"/>
            <a:ext cx="8039100" cy="2616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23669"/>
              </a:lnSpc>
            </a:pPr>
            <a:r>
              <a:rPr lang="en-US" sz="2800" b="0" i="0" u="none" strike="noStrike" spc="-100" dirty="0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- Integrated solution: Prediction to Prevention, Instant Detection to Alert, Rehab to Recovery</a:t>
            </a:r>
          </a:p>
          <a:p>
            <a:pPr lvl="0" algn="l">
              <a:lnSpc>
                <a:spcPct val="123669"/>
              </a:lnSpc>
            </a:pPr>
            <a:r>
              <a:rPr lang="en-US" sz="2800" b="0" i="0" u="none" strike="noStrike" spc="-100" dirty="0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- Equipment: only a standard camera + smartphone (family app) needed</a:t>
            </a:r>
          </a:p>
          <a:p>
            <a:pPr lvl="0" algn="l">
              <a:lnSpc>
                <a:spcPct val="123669"/>
              </a:lnSpc>
            </a:pPr>
            <a:r>
              <a:rPr lang="en-US" sz="2800" b="0" i="0" u="none" strike="noStrike" spc="-100" dirty="0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- No additional sensors or wearables required</a:t>
            </a:r>
          </a:p>
          <a:p>
            <a:pPr lvl="0" algn="l">
              <a:lnSpc>
                <a:spcPct val="123669"/>
              </a:lnSpc>
            </a:pPr>
            <a:r>
              <a:rPr lang="en-US" sz="2800" b="0" i="0" u="none" strike="noStrike" spc="-100" dirty="0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- Full-body motion tracking (17 joints)</a:t>
            </a: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7">
            <a:alphaModFix amt="67000"/>
          </a:blip>
          <a:stretch>
            <a:fillRect/>
          </a:stretch>
        </p:blipFill>
        <p:spPr>
          <a:xfrm>
            <a:off x="-7505700" y="7124700"/>
            <a:ext cx="16713200" cy="14211300"/>
          </a:xfrm>
          <a:prstGeom prst="rect">
            <a:avLst/>
          </a:prstGeom>
        </p:spPr>
      </p:pic>
      <p:sp>
        <p:nvSpPr>
          <p:cNvPr id="16" name="TextBox 16"/>
          <p:cNvSpPr txBox="1"/>
          <p:nvPr/>
        </p:nvSpPr>
        <p:spPr>
          <a:xfrm>
            <a:off x="2882900" y="2235200"/>
            <a:ext cx="18973800" cy="1866900"/>
          </a:xfrm>
          <a:prstGeom prst="rect">
            <a:avLst/>
          </a:prstGeom>
        </p:spPr>
        <p:txBody>
          <a:bodyPr lIns="0" tIns="133773" rIns="0" bIns="133773" rtlCol="0" anchor="ctr"/>
          <a:lstStyle/>
          <a:p>
            <a:pPr lvl="0" algn="l">
              <a:lnSpc>
                <a:spcPct val="99600"/>
              </a:lnSpc>
            </a:pPr>
            <a:r>
              <a:rPr lang="en-US" sz="8800" b="0" i="0" u="none" strike="noStrike" spc="-400" dirty="0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Limitations of Existing Solutions and Improvements</a:t>
            </a: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90600" y="6159500"/>
            <a:ext cx="292100" cy="292100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90600" y="6705600"/>
            <a:ext cx="292100" cy="292100"/>
          </a:xfrm>
          <a:prstGeom prst="rect">
            <a:avLst/>
          </a:prstGeom>
        </p:spPr>
      </p:pic>
      <p:pic>
        <p:nvPicPr>
          <p:cNvPr id="19" name="Picture 19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90600" y="7264400"/>
            <a:ext cx="292100" cy="292100"/>
          </a:xfrm>
          <a:prstGeom prst="rect">
            <a:avLst/>
          </a:prstGeom>
        </p:spPr>
      </p:pic>
      <p:pic>
        <p:nvPicPr>
          <p:cNvPr id="20" name="Picture 20"/>
          <p:cNvPicPr>
            <a:picLocks noChangeAspect="1"/>
          </p:cNvPicPr>
          <p:nvPr/>
        </p:nvPicPr>
        <p:blipFill>
          <a:blip r:embed="rId11">
            <a:alphaModFix amt="21000"/>
          </a:blip>
          <a:stretch>
            <a:fillRect/>
          </a:stretch>
        </p:blipFill>
        <p:spPr>
          <a:xfrm>
            <a:off x="-254000" y="1333500"/>
            <a:ext cx="24879300" cy="25400"/>
          </a:xfrm>
          <a:prstGeom prst="rect">
            <a:avLst/>
          </a:prstGeom>
        </p:spPr>
      </p:pic>
      <p:pic>
        <p:nvPicPr>
          <p:cNvPr id="21" name="Picture 21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03300" y="419100"/>
            <a:ext cx="2324100" cy="698500"/>
          </a:xfrm>
          <a:prstGeom prst="rect">
            <a:avLst/>
          </a:prstGeom>
        </p:spPr>
      </p:pic>
      <p:sp>
        <p:nvSpPr>
          <p:cNvPr id="22" name="TextBox 22"/>
          <p:cNvSpPr txBox="1"/>
          <p:nvPr/>
        </p:nvSpPr>
        <p:spPr>
          <a:xfrm>
            <a:off x="1231900" y="596900"/>
            <a:ext cx="1841500" cy="330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9518"/>
              </a:lnSpc>
            </a:pPr>
            <a:r>
              <a:rPr lang="en-US" sz="1866" b="1" i="0" u="none" strike="noStrike" spc="-100">
                <a:solidFill>
                  <a:srgbClr val="000000"/>
                </a:solidFill>
                <a:latin typeface="Gmarket Sans Bold"/>
                <a:ea typeface="Gmarket Sans Bold"/>
                <a:cs typeface="Gmarket Sans Bold"/>
              </a:rPr>
              <a:t>Team Choco Haim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80000"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>
            <a:alphaModFix amt="67000"/>
          </a:blip>
          <a:stretch>
            <a:fillRect/>
          </a:stretch>
        </p:blipFill>
        <p:spPr>
          <a:xfrm>
            <a:off x="-8356600" y="-6756400"/>
            <a:ext cx="16713200" cy="142113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0600" y="6159500"/>
            <a:ext cx="292100" cy="2921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0600" y="6705600"/>
            <a:ext cx="292100" cy="2921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0600" y="7264400"/>
            <a:ext cx="292100" cy="292100"/>
          </a:xfrm>
          <a:prstGeom prst="rect">
            <a:avLst/>
          </a:prstGeom>
        </p:spPr>
      </p:pic>
      <p:sp>
        <p:nvSpPr>
          <p:cNvPr id="7" name="TextBox 7"/>
          <p:cNvSpPr txBox="1"/>
          <p:nvPr/>
        </p:nvSpPr>
        <p:spPr>
          <a:xfrm>
            <a:off x="3098800" y="1955800"/>
            <a:ext cx="18935700" cy="1866900"/>
          </a:xfrm>
          <a:prstGeom prst="rect">
            <a:avLst/>
          </a:prstGeom>
        </p:spPr>
        <p:txBody>
          <a:bodyPr lIns="0" tIns="133773" rIns="0" bIns="133773" rtlCol="0" anchor="ctr"/>
          <a:lstStyle/>
          <a:p>
            <a:pPr lvl="0" algn="l">
              <a:lnSpc>
                <a:spcPct val="99600"/>
              </a:lnSpc>
            </a:pPr>
            <a:r>
              <a:rPr lang="en-US" sz="9600" b="0" i="0" u="none" strike="noStrike" spc="-500" dirty="0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Core Technology Architecture</a:t>
            </a: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98800" y="4432300"/>
            <a:ext cx="18554700" cy="25400"/>
          </a:xfrm>
          <a:prstGeom prst="rect">
            <a:avLst/>
          </a:prstGeom>
        </p:spPr>
      </p:pic>
      <p:sp>
        <p:nvSpPr>
          <p:cNvPr id="9" name="TextBox 9"/>
          <p:cNvSpPr txBox="1"/>
          <p:nvPr/>
        </p:nvSpPr>
        <p:spPr>
          <a:xfrm>
            <a:off x="3098800" y="4889500"/>
            <a:ext cx="1168400" cy="635000"/>
          </a:xfrm>
          <a:prstGeom prst="rect">
            <a:avLst/>
          </a:prstGeom>
        </p:spPr>
        <p:txBody>
          <a:bodyPr lIns="0" tIns="80010" rIns="0" bIns="80010" rtlCol="0" anchor="ctr"/>
          <a:lstStyle/>
          <a:p>
            <a:pPr lvl="0" algn="l">
              <a:lnSpc>
                <a:spcPct val="87149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01</a:t>
            </a: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42300" y="4889500"/>
            <a:ext cx="3136900" cy="3136900"/>
          </a:xfrm>
          <a:prstGeom prst="rect">
            <a:avLst/>
          </a:prstGeom>
        </p:spPr>
      </p:pic>
      <p:sp>
        <p:nvSpPr>
          <p:cNvPr id="11" name="TextBox 11"/>
          <p:cNvSpPr txBox="1"/>
          <p:nvPr/>
        </p:nvSpPr>
        <p:spPr>
          <a:xfrm>
            <a:off x="4419600" y="4889500"/>
            <a:ext cx="3556000" cy="1028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24499"/>
              </a:lnSpc>
            </a:pPr>
            <a:r>
              <a:rPr lang="en-US" sz="2800" b="0" i="0" u="none" strike="noStrike" spc="-100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YOLOv11 Pose Estimation</a:t>
            </a: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098800" y="8547100"/>
            <a:ext cx="18567400" cy="127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8491200" y="4889500"/>
            <a:ext cx="3136900" cy="31369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491200" y="8991600"/>
            <a:ext cx="3136900" cy="31369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98800" y="13284200"/>
            <a:ext cx="18554700" cy="254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111500" y="13385800"/>
            <a:ext cx="18554700" cy="254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111500" y="4318000"/>
            <a:ext cx="18554700" cy="25400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12">
            <a:alphaModFix amt="21000"/>
          </a:blip>
          <a:stretch>
            <a:fillRect/>
          </a:stretch>
        </p:blipFill>
        <p:spPr>
          <a:xfrm>
            <a:off x="-254000" y="1333500"/>
            <a:ext cx="24879300" cy="25400"/>
          </a:xfrm>
          <a:prstGeom prst="rect">
            <a:avLst/>
          </a:prstGeom>
        </p:spPr>
      </p:pic>
      <p:sp>
        <p:nvSpPr>
          <p:cNvPr id="19" name="TextBox 19"/>
          <p:cNvSpPr txBox="1"/>
          <p:nvPr/>
        </p:nvSpPr>
        <p:spPr>
          <a:xfrm>
            <a:off x="4419600" y="6134100"/>
            <a:ext cx="3543300" cy="1803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533" b="0" i="0" u="none" strike="noStrike" spc="-100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- Real-time tracking of 17 joints</a:t>
            </a:r>
          </a:p>
          <a:p>
            <a:pPr lvl="0" algn="l">
              <a:lnSpc>
                <a:spcPct val="116199"/>
              </a:lnSpc>
            </a:pPr>
            <a:r>
              <a:rPr lang="en-US" sz="2533" b="0" i="0" u="none" strike="noStrike" spc="-100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- Fall pattern detection</a:t>
            </a:r>
          </a:p>
          <a:p>
            <a:pPr lvl="0" algn="l">
              <a:lnSpc>
                <a:spcPct val="116199"/>
              </a:lnSpc>
            </a:pPr>
            <a:r>
              <a:rPr lang="en-US" sz="2533" b="0" i="0" u="none" strike="noStrike" spc="-100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- Balance score calculation</a:t>
            </a: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03300" y="419100"/>
            <a:ext cx="2324100" cy="698500"/>
          </a:xfrm>
          <a:prstGeom prst="rect">
            <a:avLst/>
          </a:prstGeom>
        </p:spPr>
      </p:pic>
      <p:sp>
        <p:nvSpPr>
          <p:cNvPr id="21" name="TextBox 21"/>
          <p:cNvSpPr txBox="1"/>
          <p:nvPr/>
        </p:nvSpPr>
        <p:spPr>
          <a:xfrm>
            <a:off x="1231900" y="596900"/>
            <a:ext cx="1841500" cy="330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9518"/>
              </a:lnSpc>
            </a:pPr>
            <a:r>
              <a:rPr lang="en-US" sz="1866" b="1" i="0" u="none" strike="noStrike" spc="-100" dirty="0" err="1">
                <a:solidFill>
                  <a:srgbClr val="000000"/>
                </a:solidFill>
                <a:latin typeface="Gmarket Sans Bold"/>
                <a:ea typeface="Gmarket Sans Bold"/>
                <a:cs typeface="Gmarket Sans Bold"/>
              </a:rPr>
              <a:t>Team Choco Haim</a:t>
            </a:r>
            <a:endParaRPr lang="en-US" sz="1866" b="1" i="0" u="none" strike="noStrike" spc="-100" dirty="0">
              <a:solidFill>
                <a:srgbClr val="000000"/>
              </a:solidFill>
              <a:latin typeface="Gmarket Sans Bold"/>
              <a:ea typeface="Gmarket Sans Bold"/>
              <a:cs typeface="Gmarket Sans Bold"/>
            </a:endParaRPr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14">
            <a:alphaModFix amt="49000"/>
          </a:blip>
          <a:stretch>
            <a:fillRect/>
          </a:stretch>
        </p:blipFill>
        <p:spPr>
          <a:xfrm>
            <a:off x="8242300" y="8978900"/>
            <a:ext cx="3136900" cy="3136900"/>
          </a:xfrm>
          <a:prstGeom prst="rect">
            <a:avLst/>
          </a:prstGeom>
        </p:spPr>
      </p:pic>
      <p:pic>
        <p:nvPicPr>
          <p:cNvPr id="23" name="Picture 23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242300" y="8978900"/>
            <a:ext cx="3136900" cy="3136900"/>
          </a:xfrm>
          <a:prstGeom prst="rect">
            <a:avLst/>
          </a:prstGeom>
        </p:spPr>
      </p:pic>
      <p:sp>
        <p:nvSpPr>
          <p:cNvPr id="24" name="TextBox 24"/>
          <p:cNvSpPr txBox="1"/>
          <p:nvPr/>
        </p:nvSpPr>
        <p:spPr>
          <a:xfrm>
            <a:off x="13347700" y="4889500"/>
            <a:ext cx="1168400" cy="635000"/>
          </a:xfrm>
          <a:prstGeom prst="rect">
            <a:avLst/>
          </a:prstGeom>
        </p:spPr>
        <p:txBody>
          <a:bodyPr lIns="0" tIns="80010" rIns="0" bIns="80010" rtlCol="0" anchor="ctr"/>
          <a:lstStyle/>
          <a:p>
            <a:pPr lvl="0" algn="l">
              <a:lnSpc>
                <a:spcPct val="87149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03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4655800" y="4889500"/>
            <a:ext cx="3556000" cy="495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24499"/>
              </a:lnSpc>
            </a:pPr>
            <a:r>
              <a:rPr lang="en-US" sz="2800" spc="-100" dirty="0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ST-GCN + Physics</a:t>
            </a:r>
          </a:p>
          <a:p>
            <a:pPr lvl="0" algn="l">
              <a:lnSpc>
                <a:spcPct val="124499"/>
              </a:lnSpc>
            </a:pPr>
            <a:r>
              <a:rPr lang="en-US" sz="2800" b="0" i="0" u="none" strike="noStrike" spc="-100" dirty="0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Rescue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4655800" y="6134100"/>
            <a:ext cx="3543300" cy="1803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533" b="0" i="0" u="none" strike="noStrike" spc="-100" dirty="0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- Primary verification with ST-GCN</a:t>
            </a:r>
          </a:p>
          <a:p>
            <a:pPr lvl="0" algn="l">
              <a:lnSpc>
                <a:spcPct val="116199"/>
              </a:lnSpc>
            </a:pPr>
            <a:r>
              <a:rPr lang="en-US" sz="2533" b="0" i="0" u="none" strike="noStrike" spc="-100" dirty="0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- Physics Rescue assists discrimination at the fall/non-fall boundary (grey zone)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3098800" y="8991600"/>
            <a:ext cx="1168400" cy="635000"/>
          </a:xfrm>
          <a:prstGeom prst="rect">
            <a:avLst/>
          </a:prstGeom>
        </p:spPr>
        <p:txBody>
          <a:bodyPr lIns="0" tIns="80010" rIns="0" bIns="80010" rtlCol="0" anchor="ctr"/>
          <a:lstStyle/>
          <a:p>
            <a:pPr lvl="0" algn="l">
              <a:lnSpc>
                <a:spcPct val="87149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02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4419600" y="8991600"/>
            <a:ext cx="3556000" cy="495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24499"/>
              </a:lnSpc>
            </a:pPr>
            <a:r>
              <a:rPr lang="en-US" sz="2800" b="0" i="0" u="none" strike="noStrike" spc="-100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Lightweight Edge AI Model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4419600" y="10236200"/>
            <a:ext cx="3543300" cy="1803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533" b="0" i="0" u="none" strike="noStrike" spc="-100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- Runs on edge devices</a:t>
            </a:r>
          </a:p>
          <a:p>
            <a:pPr lvl="0" algn="l">
              <a:lnSpc>
                <a:spcPct val="116199"/>
              </a:lnSpc>
            </a:pPr>
            <a:r>
              <a:rPr lang="en-US" sz="2533" b="0" i="0" u="none" strike="noStrike" spc="-100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- Low latency, no cloud required</a:t>
            </a:r>
          </a:p>
          <a:p>
            <a:pPr lvl="0" algn="l">
              <a:lnSpc>
                <a:spcPct val="116199"/>
              </a:lnSpc>
            </a:pPr>
            <a:r>
              <a:rPr lang="en-US" sz="2533" b="0" i="0" u="none" strike="noStrike" spc="-100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- Privacy protection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3347700" y="8991600"/>
            <a:ext cx="1168400" cy="635000"/>
          </a:xfrm>
          <a:prstGeom prst="rect">
            <a:avLst/>
          </a:prstGeom>
        </p:spPr>
        <p:txBody>
          <a:bodyPr lIns="0" tIns="80010" rIns="0" bIns="80010" rtlCol="0" anchor="ctr"/>
          <a:lstStyle/>
          <a:p>
            <a:pPr lvl="0" algn="l">
              <a:lnSpc>
                <a:spcPct val="87149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04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4655800" y="8991600"/>
            <a:ext cx="3556000" cy="495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24499"/>
              </a:lnSpc>
            </a:pPr>
            <a:r>
              <a:rPr lang="en-US" sz="2800" b="0" i="0" u="none" strike="noStrike" spc="-100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Instant Alert System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4655800" y="10236200"/>
            <a:ext cx="3543300" cy="1803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533" b="0" i="0" u="none" strike="noStrike" spc="-100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- Sends alert within 3 seconds</a:t>
            </a:r>
          </a:p>
          <a:p>
            <a:pPr lvl="0" algn="l">
              <a:lnSpc>
                <a:spcPct val="116199"/>
              </a:lnSpc>
            </a:pPr>
            <a:r>
              <a:rPr lang="en-US" sz="2533" b="0" i="0" u="none" strike="noStrike" spc="-100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- Push / SMS / KakaoTalk</a:t>
            </a:r>
          </a:p>
          <a:p>
            <a:pPr lvl="0" algn="l">
              <a:lnSpc>
                <a:spcPct val="116199"/>
              </a:lnSpc>
            </a:pPr>
            <a:r>
              <a:rPr lang="en-US" sz="2533" b="0" i="0" u="none" strike="noStrike" spc="-100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- Family app integration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80000"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>
            <a:alphaModFix amt="67000"/>
          </a:blip>
          <a:stretch>
            <a:fillRect/>
          </a:stretch>
        </p:blipFill>
        <p:spPr>
          <a:xfrm>
            <a:off x="-8356600" y="-6756400"/>
            <a:ext cx="16713200" cy="142113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2760" y="5092700"/>
            <a:ext cx="292100" cy="2921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2760" y="5638800"/>
            <a:ext cx="292100" cy="2921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2760" y="6197600"/>
            <a:ext cx="292100" cy="292100"/>
          </a:xfrm>
          <a:prstGeom prst="rect">
            <a:avLst/>
          </a:prstGeom>
        </p:spPr>
      </p:pic>
      <p:sp>
        <p:nvSpPr>
          <p:cNvPr id="7" name="TextBox 7"/>
          <p:cNvSpPr txBox="1"/>
          <p:nvPr/>
        </p:nvSpPr>
        <p:spPr>
          <a:xfrm>
            <a:off x="1866360" y="1066800"/>
            <a:ext cx="20218400" cy="1866900"/>
          </a:xfrm>
          <a:prstGeom prst="rect">
            <a:avLst/>
          </a:prstGeom>
        </p:spPr>
        <p:txBody>
          <a:bodyPr lIns="0" tIns="133773" rIns="0" bIns="133773" rtlCol="0" anchor="ctr"/>
          <a:lstStyle/>
          <a:p>
            <a:pPr lvl="0" algn="l">
              <a:lnSpc>
                <a:spcPct val="99600"/>
              </a:lnSpc>
            </a:pPr>
            <a:r>
              <a:rPr lang="en-US" sz="8800" b="0" i="0" u="none" strike="noStrike" spc="-500" dirty="0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Core Architecture (Stage 1)</a:t>
            </a: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66360" y="3429000"/>
            <a:ext cx="20688300" cy="254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7">
            <a:alphaModFix amt="21000"/>
          </a:blip>
          <a:stretch>
            <a:fillRect/>
          </a:stretch>
        </p:blipFill>
        <p:spPr>
          <a:xfrm>
            <a:off x="-254000" y="1333500"/>
            <a:ext cx="24879300" cy="254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3300" y="419100"/>
            <a:ext cx="2324100" cy="6985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866360" y="3848100"/>
            <a:ext cx="4953000" cy="31369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111460" y="3848100"/>
            <a:ext cx="4953000" cy="31369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2356560" y="3848100"/>
            <a:ext cx="4953000" cy="31369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7588960" y="3848100"/>
            <a:ext cx="4953000" cy="3136900"/>
          </a:xfrm>
          <a:prstGeom prst="rect">
            <a:avLst/>
          </a:prstGeom>
        </p:spPr>
      </p:pic>
      <p:sp>
        <p:nvSpPr>
          <p:cNvPr id="18" name="TextBox 18"/>
          <p:cNvSpPr txBox="1"/>
          <p:nvPr/>
        </p:nvSpPr>
        <p:spPr>
          <a:xfrm>
            <a:off x="1802860" y="8712200"/>
            <a:ext cx="5067300" cy="2209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32800"/>
              </a:lnSpc>
            </a:pPr>
            <a:r>
              <a:rPr lang="en-US" sz="2800" b="0" i="0" u="none" strike="noStrike" spc="-100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- Extract 17 COCO keypoints</a:t>
            </a:r>
          </a:p>
          <a:p>
            <a:pPr lvl="0" algn="ctr">
              <a:lnSpc>
                <a:spcPct val="132800"/>
              </a:lnSpc>
            </a:pPr>
            <a:r>
              <a:rPr lang="en-US" sz="2800" b="0" i="0" u="none" strike="noStrike" spc="-100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- (x, y, confidence) coordinates</a:t>
            </a:r>
          </a:p>
          <a:p>
            <a:pPr lvl="0" algn="ctr">
              <a:lnSpc>
                <a:spcPct val="132800"/>
              </a:lnSpc>
            </a:pPr>
            <a:r>
              <a:rPr lang="en-US" sz="2800" b="0" i="0" u="none" strike="noStrike" spc="-100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- Low confidence threshold set at 0.1</a:t>
            </a:r>
          </a:p>
          <a:p>
            <a:pPr lvl="0" algn="ctr">
              <a:lnSpc>
                <a:spcPct val="132800"/>
              </a:lnSpc>
            </a:pPr>
            <a:r>
              <a:rPr lang="en-US" sz="2800" b="0" i="0" u="none" strike="noStrike" spc="-100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- 30 FPS real-time processing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815560" y="7366000"/>
            <a:ext cx="5054600" cy="1092200"/>
          </a:xfrm>
          <a:prstGeom prst="rect">
            <a:avLst/>
          </a:prstGeom>
        </p:spPr>
        <p:txBody>
          <a:bodyPr lIns="0" tIns="0" rIns="0" bIns="20320" rtlCol="0" anchor="b"/>
          <a:lstStyle/>
          <a:p>
            <a:pPr lvl="0" algn="ctr">
              <a:lnSpc>
                <a:spcPct val="107899"/>
              </a:lnSpc>
            </a:pPr>
            <a:r>
              <a:rPr lang="en-US" sz="3200" b="0" i="0" u="none" strike="noStrike" spc="-100">
                <a:solidFill>
                  <a:srgbClr val="262626"/>
                </a:solidFill>
                <a:latin typeface="Gmarket Sans Bold"/>
                <a:ea typeface="Gmarket Sans Bold"/>
                <a:cs typeface="Gmarket Sans Bold"/>
              </a:rPr>
              <a:t>YOLOv11n-pose Keypoint Extraction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7047960" y="8712200"/>
            <a:ext cx="5067300" cy="2768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32800"/>
              </a:lnSpc>
            </a:pPr>
            <a:r>
              <a:rPr lang="en-US" sz="2800" b="0" i="0" u="none" strike="noStrike" spc="-100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- Window size: 30 frames (~1.6 sec)</a:t>
            </a:r>
          </a:p>
          <a:p>
            <a:pPr lvl="0" algn="ctr">
              <a:lnSpc>
                <a:spcPct val="132800"/>
              </a:lnSpc>
            </a:pPr>
            <a:r>
              <a:rPr lang="en-US" sz="2800" b="0" i="0" u="none" strike="noStrike" spc="-100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- Stride: 15 frames (~0.8 sec)</a:t>
            </a:r>
          </a:p>
          <a:p>
            <a:pPr lvl="0" algn="ctr">
              <a:lnSpc>
                <a:spcPct val="132800"/>
              </a:lnSpc>
            </a:pPr>
            <a:r>
              <a:rPr lang="en-US" sz="2800" b="0" i="0" u="none" strike="noStrike" spc="-100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- Real-time processing speed: ~19 FPS</a:t>
            </a:r>
          </a:p>
          <a:p>
            <a:pPr lvl="0" algn="ctr">
              <a:lnSpc>
                <a:spcPct val="132800"/>
              </a:lnSpc>
            </a:pPr>
            <a:r>
              <a:rPr lang="en-US" sz="2800" b="0" i="0" u="none" strike="noStrike" spc="-100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- Continuous motion pattern analysis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060660" y="7899400"/>
            <a:ext cx="5054600" cy="571500"/>
          </a:xfrm>
          <a:prstGeom prst="rect">
            <a:avLst/>
          </a:prstGeom>
        </p:spPr>
        <p:txBody>
          <a:bodyPr lIns="0" tIns="0" rIns="0" bIns="20320" rtlCol="0" anchor="b"/>
          <a:lstStyle/>
          <a:p>
            <a:pPr lvl="0" algn="ctr">
              <a:lnSpc>
                <a:spcPct val="107899"/>
              </a:lnSpc>
            </a:pPr>
            <a:r>
              <a:rPr lang="en-US" sz="3200" b="0" i="0" u="none" strike="noStrike" spc="-100">
                <a:solidFill>
                  <a:srgbClr val="262626"/>
                </a:solidFill>
                <a:latin typeface="Gmarket Sans Bold"/>
                <a:ea typeface="Gmarket Sans Bold"/>
                <a:cs typeface="Gmarket Sans Bold"/>
              </a:rPr>
              <a:t>30-Frame Sliding Window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2293060" y="8712200"/>
            <a:ext cx="5067300" cy="2768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32800"/>
              </a:lnSpc>
            </a:pPr>
            <a:r>
              <a:rPr lang="en-US" sz="2800" b="0" i="0" u="none" strike="noStrike" spc="-100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- 9-block structure (64 to 128 to 256 channels)</a:t>
            </a:r>
          </a:p>
          <a:p>
            <a:pPr lvl="0" algn="ctr">
              <a:lnSpc>
                <a:spcPct val="132800"/>
              </a:lnSpc>
            </a:pPr>
            <a:r>
              <a:rPr lang="en-US" sz="2800" b="0" i="0" u="none" strike="noStrike" spc="-100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- 3.1M parameters, 12.5MB model</a:t>
            </a:r>
          </a:p>
          <a:p>
            <a:pPr lvl="0" algn="ctr">
              <a:lnSpc>
                <a:spcPct val="132800"/>
              </a:lnSpc>
            </a:pPr>
            <a:r>
              <a:rPr lang="en-US" sz="2800" b="0" i="0" u="none" strike="noStrike" spc="-100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- Outputs fall probability p</a:t>
            </a:r>
          </a:p>
          <a:p>
            <a:pPr lvl="0" algn="ctr">
              <a:lnSpc>
                <a:spcPct val="132800"/>
              </a:lnSpc>
            </a:pPr>
            <a:r>
              <a:rPr lang="en-US" sz="2800" b="0" i="0" u="none" strike="noStrike" spc="-100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- p≥0.55: fall confirmed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2305760" y="7899400"/>
            <a:ext cx="5054600" cy="571500"/>
          </a:xfrm>
          <a:prstGeom prst="rect">
            <a:avLst/>
          </a:prstGeom>
        </p:spPr>
        <p:txBody>
          <a:bodyPr lIns="0" tIns="0" rIns="0" bIns="20320" rtlCol="0" anchor="b"/>
          <a:lstStyle/>
          <a:p>
            <a:pPr lvl="0" algn="ctr">
              <a:lnSpc>
                <a:spcPct val="107899"/>
              </a:lnSpc>
            </a:pPr>
            <a:r>
              <a:rPr lang="en-US" sz="3200" b="0" i="0" u="none" strike="noStrike" spc="-100">
                <a:solidFill>
                  <a:srgbClr val="262626"/>
                </a:solidFill>
                <a:latin typeface="Gmarket Sans Bold"/>
                <a:ea typeface="Gmarket Sans Bold"/>
                <a:cs typeface="Gmarket Sans Bold"/>
              </a:rPr>
              <a:t>ST-GCN Fall Probability Prediction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7461960" y="8712200"/>
            <a:ext cx="5219700" cy="2768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32800"/>
              </a:lnSpc>
            </a:pPr>
            <a:r>
              <a:rPr lang="en-US" sz="2800" b="0" i="0" u="none" strike="noStrike" spc="-100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- p≥0.55: FALL (confirmed)</a:t>
            </a:r>
          </a:p>
          <a:p>
            <a:pPr lvl="0" algn="ctr">
              <a:lnSpc>
                <a:spcPct val="132800"/>
              </a:lnSpc>
            </a:pPr>
            <a:r>
              <a:rPr lang="en-US" sz="2800" b="0" i="0" u="none" strike="noStrike" spc="-100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- 0.50≤p&lt;0.55: Physics filter activates</a:t>
            </a:r>
          </a:p>
          <a:p>
            <a:pPr lvl="0" algn="ctr">
              <a:lnSpc>
                <a:spcPct val="132800"/>
              </a:lnSpc>
            </a:pPr>
            <a:r>
              <a:rPr lang="en-US" sz="2800" b="0" i="0" u="none" strike="noStrike" spc="-100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- p&lt;0.50: NO-FALL</a:t>
            </a:r>
          </a:p>
          <a:p>
            <a:pPr lvl="0" algn="ctr">
              <a:lnSpc>
                <a:spcPct val="132800"/>
              </a:lnSpc>
            </a:pPr>
            <a:r>
              <a:rPr lang="en-US" sz="2800" b="0" i="0" u="none" strike="noStrike" spc="-100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- Uncertain range passed to stage 2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7550860" y="7899400"/>
            <a:ext cx="5054600" cy="571500"/>
          </a:xfrm>
          <a:prstGeom prst="rect">
            <a:avLst/>
          </a:prstGeom>
        </p:spPr>
        <p:txBody>
          <a:bodyPr lIns="0" tIns="0" rIns="0" bIns="20320" rtlCol="0" anchor="b"/>
          <a:lstStyle/>
          <a:p>
            <a:pPr lvl="0" algn="ctr">
              <a:lnSpc>
                <a:spcPct val="107899"/>
              </a:lnSpc>
            </a:pPr>
            <a:r>
              <a:rPr lang="en-US" sz="3200" b="0" i="0" u="none" strike="noStrike" spc="-100">
                <a:solidFill>
                  <a:srgbClr val="262626"/>
                </a:solidFill>
                <a:latin typeface="Gmarket Sans Bold"/>
                <a:ea typeface="Gmarket Sans Bold"/>
                <a:cs typeface="Gmarket Sans Bold"/>
              </a:rPr>
              <a:t>Stage 1 Decision Criteria</a:t>
            </a:r>
          </a:p>
        </p:txBody>
      </p:sp>
      <p:sp>
        <p:nvSpPr>
          <p:cNvPr id="26" name="TextBox 21">
            <a:extLst>
              <a:ext uri="{FF2B5EF4-FFF2-40B4-BE49-F238E27FC236}">
                <a16:creationId xmlns:a16="http://schemas.microsoft.com/office/drawing/2014/main" id="{DE0C1345-FE0A-6447-FDF8-1E1EA4BF9D5A}"/>
              </a:ext>
            </a:extLst>
          </p:cNvPr>
          <p:cNvSpPr txBox="1"/>
          <p:nvPr/>
        </p:nvSpPr>
        <p:spPr>
          <a:xfrm>
            <a:off x="1231900" y="596900"/>
            <a:ext cx="1841500" cy="330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9518"/>
              </a:lnSpc>
            </a:pPr>
            <a:r>
              <a:rPr lang="en-US" sz="1866" b="1" i="0" u="none" strike="noStrike" spc="-100" dirty="0" err="1">
                <a:solidFill>
                  <a:srgbClr val="000000"/>
                </a:solidFill>
                <a:latin typeface="Gmarket Sans Bold"/>
                <a:ea typeface="Gmarket Sans Bold"/>
                <a:cs typeface="Gmarket Sans Bold"/>
              </a:rPr>
              <a:t>Team Choco Haim</a:t>
            </a:r>
            <a:endParaRPr lang="en-US" sz="1866" b="1" i="0" u="none" strike="noStrike" spc="-100" dirty="0">
              <a:solidFill>
                <a:srgbClr val="000000"/>
              </a:solidFill>
              <a:latin typeface="Gmarket Sans Bold"/>
              <a:ea typeface="Gmarket Sans Bold"/>
              <a:cs typeface="Gmarket Sans Bold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80000"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>
            <a:alphaModFix amt="67000"/>
          </a:blip>
          <a:stretch>
            <a:fillRect/>
          </a:stretch>
        </p:blipFill>
        <p:spPr>
          <a:xfrm>
            <a:off x="-8356600" y="-6756400"/>
            <a:ext cx="16713200" cy="142113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0600" y="4864100"/>
            <a:ext cx="292100" cy="2921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0600" y="5410200"/>
            <a:ext cx="292100" cy="2921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0600" y="5969000"/>
            <a:ext cx="292100" cy="292100"/>
          </a:xfrm>
          <a:prstGeom prst="rect">
            <a:avLst/>
          </a:prstGeom>
        </p:spPr>
      </p:pic>
      <p:sp>
        <p:nvSpPr>
          <p:cNvPr id="7" name="TextBox 7"/>
          <p:cNvSpPr txBox="1"/>
          <p:nvPr/>
        </p:nvSpPr>
        <p:spPr>
          <a:xfrm>
            <a:off x="1854200" y="838200"/>
            <a:ext cx="20218400" cy="1866900"/>
          </a:xfrm>
          <a:prstGeom prst="rect">
            <a:avLst/>
          </a:prstGeom>
        </p:spPr>
        <p:txBody>
          <a:bodyPr lIns="0" tIns="133773" rIns="0" bIns="133773" rtlCol="0" anchor="ctr"/>
          <a:lstStyle/>
          <a:p>
            <a:pPr lvl="0" algn="l">
              <a:lnSpc>
                <a:spcPct val="99600"/>
              </a:lnSpc>
            </a:pPr>
            <a:r>
              <a:rPr lang="en-US" sz="8800" b="0" i="0" u="none" strike="noStrike" spc="-500" dirty="0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Core Architecture (Stage 2)</a:t>
            </a: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54200" y="3200400"/>
            <a:ext cx="20688300" cy="254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7">
            <a:alphaModFix amt="21000"/>
          </a:blip>
          <a:stretch>
            <a:fillRect/>
          </a:stretch>
        </p:blipFill>
        <p:spPr>
          <a:xfrm>
            <a:off x="-254000" y="1333500"/>
            <a:ext cx="24879300" cy="254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3300" y="419100"/>
            <a:ext cx="2324100" cy="6985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854200" y="3619500"/>
            <a:ext cx="4953000" cy="31369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099300" y="3619500"/>
            <a:ext cx="4953000" cy="31369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2344400" y="3619500"/>
            <a:ext cx="4953000" cy="31369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7576800" y="3619500"/>
            <a:ext cx="4953000" cy="3136900"/>
          </a:xfrm>
          <a:prstGeom prst="rect">
            <a:avLst/>
          </a:prstGeom>
        </p:spPr>
      </p:pic>
      <p:sp>
        <p:nvSpPr>
          <p:cNvPr id="18" name="TextBox 18"/>
          <p:cNvSpPr txBox="1"/>
          <p:nvPr/>
        </p:nvSpPr>
        <p:spPr>
          <a:xfrm>
            <a:off x="1778000" y="8483600"/>
            <a:ext cx="5105400" cy="2768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32800"/>
              </a:lnSpc>
            </a:pPr>
            <a:r>
              <a:rPr lang="en-US" sz="2800" b="0" i="0" u="none" strike="noStrike" spc="-100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- Applies Butterworth low-pass filter</a:t>
            </a:r>
          </a:p>
          <a:p>
            <a:pPr lvl="0" algn="ctr">
              <a:lnSpc>
                <a:spcPct val="132800"/>
              </a:lnSpc>
            </a:pPr>
            <a:r>
              <a:rPr lang="en-US" sz="2800" b="0" i="0" u="none" strike="noStrike" spc="-100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- Analysis based on hip Y-coordinate</a:t>
            </a:r>
          </a:p>
          <a:p>
            <a:pPr lvl="0" algn="ctr">
              <a:lnSpc>
                <a:spcPct val="132800"/>
              </a:lnSpc>
            </a:pPr>
            <a:r>
              <a:rPr lang="en-US" sz="2800" b="0" i="0" u="none" strike="noStrike" spc="-100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- Velocity and acceleration calculation</a:t>
            </a:r>
          </a:p>
          <a:p>
            <a:pPr lvl="0" algn="ctr">
              <a:lnSpc>
                <a:spcPct val="132800"/>
              </a:lnSpc>
            </a:pPr>
            <a:r>
              <a:rPr lang="en-US" sz="2800" b="0" i="0" u="none" strike="noStrike" spc="-100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- Activates only for stage 1 uncertain range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803400" y="7670800"/>
            <a:ext cx="5054600" cy="571500"/>
          </a:xfrm>
          <a:prstGeom prst="rect">
            <a:avLst/>
          </a:prstGeom>
        </p:spPr>
        <p:txBody>
          <a:bodyPr lIns="0" tIns="0" rIns="0" bIns="20320" rtlCol="0" anchor="b"/>
          <a:lstStyle/>
          <a:p>
            <a:pPr lvl="0" algn="ctr">
              <a:lnSpc>
                <a:spcPct val="107899"/>
              </a:lnSpc>
            </a:pPr>
            <a:r>
              <a:rPr lang="en-US" sz="3200" b="0" i="0" u="none" strike="noStrike" spc="-100">
                <a:solidFill>
                  <a:srgbClr val="262626"/>
                </a:solidFill>
                <a:latin typeface="Gmarket Sans Bold"/>
                <a:ea typeface="Gmarket Sans Bold"/>
                <a:cs typeface="Gmarket Sans Bold"/>
              </a:rPr>
              <a:t>Physics Rescue Filter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7035800" y="8483600"/>
            <a:ext cx="5067300" cy="2768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32800"/>
              </a:lnSpc>
            </a:pPr>
            <a:r>
              <a:rPr lang="en-US" sz="2800" b="0" i="0" u="none" strike="noStrike" spc="-100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- ST-GCN probability range 0.50-0.55</a:t>
            </a:r>
          </a:p>
          <a:p>
            <a:pPr lvl="0" algn="ctr">
              <a:lnSpc>
                <a:spcPct val="132800"/>
              </a:lnSpc>
            </a:pPr>
            <a:r>
              <a:rPr lang="en-US" sz="2800" b="0" i="0" u="none" strike="noStrike" spc="-100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- Physics filter makes the final decision</a:t>
            </a:r>
          </a:p>
          <a:p>
            <a:pPr lvl="0" algn="ctr">
              <a:lnSpc>
                <a:spcPct val="132800"/>
              </a:lnSpc>
            </a:pPr>
            <a:r>
              <a:rPr lang="en-US" sz="2800" b="0" i="0" u="none" strike="noStrike" spc="-100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- Stage 1 confirmed decisions remain unchanged</a:t>
            </a:r>
          </a:p>
          <a:p>
            <a:pPr lvl="0" algn="ctr">
              <a:lnSpc>
                <a:spcPct val="132800"/>
              </a:lnSpc>
            </a:pPr>
            <a:r>
              <a:rPr lang="en-US" sz="2800" b="0" i="0" u="none" strike="noStrike" spc="-100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- Rescue mode reduces false positives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048500" y="7137400"/>
            <a:ext cx="5054600" cy="1092200"/>
          </a:xfrm>
          <a:prstGeom prst="rect">
            <a:avLst/>
          </a:prstGeom>
        </p:spPr>
        <p:txBody>
          <a:bodyPr lIns="0" tIns="0" rIns="0" bIns="20320" rtlCol="0" anchor="b"/>
          <a:lstStyle/>
          <a:p>
            <a:pPr lvl="0" algn="ctr">
              <a:lnSpc>
                <a:spcPct val="107899"/>
              </a:lnSpc>
            </a:pPr>
            <a:r>
              <a:rPr lang="ko-KR" altLang="en-US" sz="3200" b="0" i="0" u="none" strike="noStrike" spc="-100" dirty="0">
                <a:solidFill>
                  <a:srgbClr val="262626"/>
                </a:solidFill>
                <a:latin typeface="Gmarket Sans Bold"/>
                <a:ea typeface="Gmarket Sans Bold"/>
                <a:cs typeface="Gmarket Sans Bold"/>
              </a:rPr>
              <a:t>Grey Zone (0.50-0.55) Handling</a:t>
            </a:r>
            <a:endParaRPr lang="en-US" sz="3200" b="0" i="0" u="none" strike="noStrike" spc="-100" dirty="0">
              <a:solidFill>
                <a:srgbClr val="262626"/>
              </a:solidFill>
              <a:latin typeface="Gmarket Sans Bold"/>
              <a:ea typeface="Gmarket Sans Bold"/>
              <a:cs typeface="Gmarket Sans Bold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12280900" y="8483600"/>
            <a:ext cx="5067300" cy="2209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32800"/>
              </a:lnSpc>
            </a:pPr>
            <a:r>
              <a:rPr lang="en-US" sz="2800" b="0" i="0" u="none" strike="noStrike" spc="-100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- Velocity threshold applied</a:t>
            </a:r>
          </a:p>
          <a:p>
            <a:pPr lvl="0" algn="ctr">
              <a:lnSpc>
                <a:spcPct val="132800"/>
              </a:lnSpc>
            </a:pPr>
            <a:r>
              <a:rPr lang="en-US" sz="2800" b="0" i="0" u="none" strike="noStrike" spc="-100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- Acceleration threshold applied</a:t>
            </a:r>
          </a:p>
          <a:p>
            <a:pPr lvl="0" algn="ctr">
              <a:lnSpc>
                <a:spcPct val="132800"/>
              </a:lnSpc>
            </a:pPr>
            <a:r>
              <a:rPr lang="en-US" sz="2800" b="0" i="0" u="none" strike="noStrike" spc="-100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- Fall verified using physical laws</a:t>
            </a:r>
          </a:p>
          <a:p>
            <a:pPr lvl="0" algn="ctr">
              <a:lnSpc>
                <a:spcPct val="132800"/>
              </a:lnSpc>
            </a:pPr>
            <a:r>
              <a:rPr lang="en-US" sz="2800" b="0" i="0" u="none" strike="noStrike" spc="-100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- Fall confirmed if verification passes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2293600" y="7670800"/>
            <a:ext cx="5054600" cy="571500"/>
          </a:xfrm>
          <a:prstGeom prst="rect">
            <a:avLst/>
          </a:prstGeom>
        </p:spPr>
        <p:txBody>
          <a:bodyPr lIns="0" tIns="0" rIns="0" bIns="20320" rtlCol="0" anchor="b"/>
          <a:lstStyle/>
          <a:p>
            <a:pPr lvl="0" algn="ctr">
              <a:lnSpc>
                <a:spcPct val="107899"/>
              </a:lnSpc>
            </a:pPr>
            <a:r>
              <a:rPr lang="en-US" sz="3200" b="0" i="0" u="none" strike="noStrike" spc="-100">
                <a:solidFill>
                  <a:srgbClr val="262626"/>
                </a:solidFill>
                <a:latin typeface="Gmarket Sans Bold"/>
                <a:ea typeface="Gmarket Sans Bold"/>
                <a:cs typeface="Gmarket Sans Bold"/>
              </a:rPr>
              <a:t>Velocity/Acceleration Threshold Verification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7526000" y="8483600"/>
            <a:ext cx="5067300" cy="2768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32800"/>
              </a:lnSpc>
            </a:pPr>
            <a:r>
              <a:rPr lang="en-US" sz="2800" b="0" i="0" u="none" strike="noStrike" spc="-100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- Fall F1-score of 0.955 achieved</a:t>
            </a:r>
          </a:p>
          <a:p>
            <a:pPr lvl="0" algn="ctr">
              <a:lnSpc>
                <a:spcPct val="132800"/>
              </a:lnSpc>
            </a:pPr>
            <a:r>
              <a:rPr lang="en-US" sz="2800" b="0" i="0" u="none" strike="noStrike" spc="-100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- Precision 95%, Recall 96%</a:t>
            </a:r>
          </a:p>
          <a:p>
            <a:pPr lvl="0" algn="ctr">
              <a:lnSpc>
                <a:spcPct val="132800"/>
              </a:lnSpc>
            </a:pPr>
            <a:r>
              <a:rPr lang="en-US" sz="2800" b="0" i="0" u="none" strike="noStrike" spc="-100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- Accuracy 98.7%</a:t>
            </a:r>
          </a:p>
          <a:p>
            <a:pPr lvl="0" algn="ctr">
              <a:lnSpc>
                <a:spcPct val="132800"/>
              </a:lnSpc>
            </a:pPr>
            <a:r>
              <a:rPr lang="en-US" sz="2800" b="0" i="0" u="none" strike="noStrike" spc="-100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- Reduced false positives, improved accuracy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7538700" y="7670800"/>
            <a:ext cx="5054600" cy="571500"/>
          </a:xfrm>
          <a:prstGeom prst="rect">
            <a:avLst/>
          </a:prstGeom>
        </p:spPr>
        <p:txBody>
          <a:bodyPr lIns="0" tIns="0" rIns="0" bIns="20320" rtlCol="0" anchor="b"/>
          <a:lstStyle/>
          <a:p>
            <a:pPr lvl="0" algn="ctr">
              <a:lnSpc>
                <a:spcPct val="107899"/>
              </a:lnSpc>
            </a:pPr>
            <a:r>
              <a:rPr lang="en-US" sz="3200" b="0" i="0" u="none" strike="noStrike" spc="-100">
                <a:solidFill>
                  <a:srgbClr val="262626"/>
                </a:solidFill>
                <a:latin typeface="Gmarket Sans Bold"/>
                <a:ea typeface="Gmarket Sans Bold"/>
                <a:cs typeface="Gmarket Sans Bold"/>
              </a:rPr>
              <a:t>Stage 2 Performance Improvement</a:t>
            </a:r>
          </a:p>
        </p:txBody>
      </p:sp>
      <p:sp>
        <p:nvSpPr>
          <p:cNvPr id="26" name="TextBox 21">
            <a:extLst>
              <a:ext uri="{FF2B5EF4-FFF2-40B4-BE49-F238E27FC236}">
                <a16:creationId xmlns:a16="http://schemas.microsoft.com/office/drawing/2014/main" id="{9FD7E870-CC20-9409-4184-B6CC2033A0FC}"/>
              </a:ext>
            </a:extLst>
          </p:cNvPr>
          <p:cNvSpPr txBox="1"/>
          <p:nvPr/>
        </p:nvSpPr>
        <p:spPr>
          <a:xfrm>
            <a:off x="1231900" y="596900"/>
            <a:ext cx="1841500" cy="330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9518"/>
              </a:lnSpc>
            </a:pPr>
            <a:r>
              <a:rPr lang="en-US" sz="1866" b="1" i="0" u="none" strike="noStrike" spc="-100" dirty="0" err="1">
                <a:solidFill>
                  <a:srgbClr val="000000"/>
                </a:solidFill>
                <a:latin typeface="Gmarket Sans Bold"/>
                <a:ea typeface="Gmarket Sans Bold"/>
                <a:cs typeface="Gmarket Sans Bold"/>
              </a:rPr>
              <a:t>Team Choco Haim</a:t>
            </a:r>
            <a:endParaRPr lang="en-US" sz="1866" b="1" i="0" u="none" strike="noStrike" spc="-100" dirty="0">
              <a:solidFill>
                <a:srgbClr val="000000"/>
              </a:solidFill>
              <a:latin typeface="Gmarket Sans Bold"/>
              <a:ea typeface="Gmarket Sans Bold"/>
              <a:cs typeface="Gmarket Sans Bold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80000"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7900" y="419100"/>
            <a:ext cx="2324100" cy="69850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1206500" y="596900"/>
            <a:ext cx="1841500" cy="330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9518"/>
              </a:lnSpc>
            </a:pPr>
            <a:r>
              <a:rPr lang="en-US" sz="1866" b="1" i="0" u="none" strike="noStrike" spc="-100">
                <a:solidFill>
                  <a:srgbClr val="000000"/>
                </a:solidFill>
                <a:latin typeface="Gmarket Sans Bold"/>
                <a:ea typeface="Gmarket Sans Bold"/>
                <a:cs typeface="Gmarket Sans Bold"/>
              </a:rPr>
              <a:t>Team Choco Haim</a:t>
            </a: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4">
            <a:alphaModFix amt="67000"/>
          </a:blip>
          <a:stretch>
            <a:fillRect/>
          </a:stretch>
        </p:blipFill>
        <p:spPr>
          <a:xfrm>
            <a:off x="4889500" y="-6591300"/>
            <a:ext cx="13309600" cy="11518900"/>
          </a:xfrm>
          <a:prstGeom prst="rect">
            <a:avLst/>
          </a:prstGeom>
        </p:spPr>
      </p:pic>
      <p:sp>
        <p:nvSpPr>
          <p:cNvPr id="6" name="TextBox 6"/>
          <p:cNvSpPr txBox="1"/>
          <p:nvPr/>
        </p:nvSpPr>
        <p:spPr>
          <a:xfrm>
            <a:off x="2123704" y="1676547"/>
            <a:ext cx="19898096" cy="1866900"/>
          </a:xfrm>
          <a:prstGeom prst="rect">
            <a:avLst/>
          </a:prstGeom>
        </p:spPr>
        <p:txBody>
          <a:bodyPr lIns="0" tIns="133773" rIns="0" bIns="0" rtlCol="0" anchor="t"/>
          <a:lstStyle/>
          <a:p>
            <a:pPr lvl="0" algn="l">
              <a:lnSpc>
                <a:spcPct val="99600"/>
              </a:lnSpc>
            </a:pPr>
            <a:r>
              <a:rPr lang="ko-KR" altLang="en-US" sz="9600" spc="-400" dirty="0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Performance Improvement</a:t>
            </a:r>
            <a:endParaRPr lang="en-US" sz="9600" b="0" i="0" u="none" strike="noStrike" spc="-400" dirty="0">
              <a:solidFill>
                <a:srgbClr val="262626"/>
              </a:solidFill>
              <a:latin typeface="Gmarket Sans Medium"/>
              <a:ea typeface="Gmarket Sans Medium"/>
              <a:cs typeface="Gmarket Sans Medium"/>
            </a:endParaR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0600" y="6159500"/>
            <a:ext cx="292100" cy="2921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0600" y="6705600"/>
            <a:ext cx="292100" cy="2921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0600" y="7264400"/>
            <a:ext cx="292100" cy="2921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7">
            <a:alphaModFix amt="21000"/>
          </a:blip>
          <a:stretch>
            <a:fillRect/>
          </a:stretch>
        </p:blipFill>
        <p:spPr>
          <a:xfrm>
            <a:off x="-254000" y="1333500"/>
            <a:ext cx="24879300" cy="25400"/>
          </a:xfrm>
          <a:prstGeom prst="rect">
            <a:avLst/>
          </a:prstGeom>
        </p:spPr>
      </p:pic>
      <p:sp>
        <p:nvSpPr>
          <p:cNvPr id="14" name="TextBox 14"/>
          <p:cNvSpPr txBox="1"/>
          <p:nvPr/>
        </p:nvSpPr>
        <p:spPr>
          <a:xfrm>
            <a:off x="6455809" y="12155967"/>
            <a:ext cx="1698994" cy="571500"/>
          </a:xfrm>
          <a:prstGeom prst="rect">
            <a:avLst/>
          </a:prstGeom>
        </p:spPr>
        <p:txBody>
          <a:bodyPr lIns="0" tIns="0" rIns="0" bIns="20320" rtlCol="0" anchor="b"/>
          <a:lstStyle/>
          <a:p>
            <a:pPr lvl="0" algn="l">
              <a:lnSpc>
                <a:spcPct val="107899"/>
              </a:lnSpc>
            </a:pPr>
            <a:r>
              <a:rPr lang="en-US" sz="3200" spc="-100" dirty="0">
                <a:solidFill>
                  <a:srgbClr val="262626"/>
                </a:solidFill>
                <a:latin typeface="Gmarket Sans Bold"/>
                <a:ea typeface="Gmarket Sans Bold"/>
                <a:cs typeface="Gmarket Sans Bold"/>
              </a:rPr>
              <a:t>Before</a:t>
            </a: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25286F5D-B669-571B-E10D-FAF66B0577A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19106" y="4356100"/>
            <a:ext cx="7772400" cy="7772400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5010C26B-8194-CC1F-1F7D-69079AC4C8F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192496" y="4343695"/>
            <a:ext cx="7772400" cy="7772400"/>
          </a:xfrm>
          <a:prstGeom prst="rect">
            <a:avLst/>
          </a:prstGeom>
        </p:spPr>
      </p:pic>
      <p:sp>
        <p:nvSpPr>
          <p:cNvPr id="17" name="TextBox 14">
            <a:extLst>
              <a:ext uri="{FF2B5EF4-FFF2-40B4-BE49-F238E27FC236}">
                <a16:creationId xmlns:a16="http://schemas.microsoft.com/office/drawing/2014/main" id="{22A31F09-85B3-C515-B736-ED2697A27799}"/>
              </a:ext>
            </a:extLst>
          </p:cNvPr>
          <p:cNvSpPr txBox="1"/>
          <p:nvPr/>
        </p:nvSpPr>
        <p:spPr>
          <a:xfrm>
            <a:off x="16430295" y="12155967"/>
            <a:ext cx="1296801" cy="571500"/>
          </a:xfrm>
          <a:prstGeom prst="rect">
            <a:avLst/>
          </a:prstGeom>
        </p:spPr>
        <p:txBody>
          <a:bodyPr lIns="0" tIns="0" rIns="0" bIns="20320" rtlCol="0" anchor="b"/>
          <a:lstStyle/>
          <a:p>
            <a:pPr lvl="0" algn="l">
              <a:lnSpc>
                <a:spcPct val="107899"/>
              </a:lnSpc>
            </a:pPr>
            <a:r>
              <a:rPr lang="en-US" sz="3200" spc="-100" dirty="0">
                <a:solidFill>
                  <a:srgbClr val="262626"/>
                </a:solidFill>
                <a:latin typeface="Gmarket Sans Bold"/>
                <a:ea typeface="Gmarket Sans Bold"/>
                <a:cs typeface="Gmarket Sans Bold"/>
              </a:rPr>
              <a:t>After</a:t>
            </a:r>
          </a:p>
        </p:txBody>
      </p:sp>
      <p:sp>
        <p:nvSpPr>
          <p:cNvPr id="18" name="오른쪽 화살표[R] 17">
            <a:extLst>
              <a:ext uri="{FF2B5EF4-FFF2-40B4-BE49-F238E27FC236}">
                <a16:creationId xmlns:a16="http://schemas.microsoft.com/office/drawing/2014/main" id="{BB6AEF5D-B10E-C1B9-F005-DF3569DDBECF}"/>
              </a:ext>
            </a:extLst>
          </p:cNvPr>
          <p:cNvSpPr/>
          <p:nvPr/>
        </p:nvSpPr>
        <p:spPr>
          <a:xfrm>
            <a:off x="11734800" y="7556500"/>
            <a:ext cx="838200" cy="6858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9" name="모서리가 둥근 직사각형 18">
            <a:extLst>
              <a:ext uri="{FF2B5EF4-FFF2-40B4-BE49-F238E27FC236}">
                <a16:creationId xmlns:a16="http://schemas.microsoft.com/office/drawing/2014/main" id="{29F5D652-D6DD-B57B-1141-1769FF8D17BC}"/>
              </a:ext>
            </a:extLst>
          </p:cNvPr>
          <p:cNvSpPr/>
          <p:nvPr/>
        </p:nvSpPr>
        <p:spPr>
          <a:xfrm>
            <a:off x="3733800" y="11201400"/>
            <a:ext cx="1447800" cy="533400"/>
          </a:xfrm>
          <a:prstGeom prst="round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0" name="모서리가 둥근 직사각형 19">
            <a:extLst>
              <a:ext uri="{FF2B5EF4-FFF2-40B4-BE49-F238E27FC236}">
                <a16:creationId xmlns:a16="http://schemas.microsoft.com/office/drawing/2014/main" id="{3CDF6711-B63D-5C34-7B74-641DC362841A}"/>
              </a:ext>
            </a:extLst>
          </p:cNvPr>
          <p:cNvSpPr/>
          <p:nvPr/>
        </p:nvSpPr>
        <p:spPr>
          <a:xfrm>
            <a:off x="7008997" y="11179839"/>
            <a:ext cx="1144403" cy="533400"/>
          </a:xfrm>
          <a:prstGeom prst="round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1" name="모서리가 둥근 직사각형 20">
            <a:extLst>
              <a:ext uri="{FF2B5EF4-FFF2-40B4-BE49-F238E27FC236}">
                <a16:creationId xmlns:a16="http://schemas.microsoft.com/office/drawing/2014/main" id="{149A0DA9-AD81-32CE-F386-0DD204BBEFC5}"/>
              </a:ext>
            </a:extLst>
          </p:cNvPr>
          <p:cNvSpPr/>
          <p:nvPr/>
        </p:nvSpPr>
        <p:spPr>
          <a:xfrm>
            <a:off x="8222510" y="11201400"/>
            <a:ext cx="1302490" cy="533400"/>
          </a:xfrm>
          <a:prstGeom prst="round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2" name="모서리가 둥근 직사각형 21">
            <a:extLst>
              <a:ext uri="{FF2B5EF4-FFF2-40B4-BE49-F238E27FC236}">
                <a16:creationId xmlns:a16="http://schemas.microsoft.com/office/drawing/2014/main" id="{2D6D6BF1-6DCE-4350-0DA3-689A3EE111B1}"/>
              </a:ext>
            </a:extLst>
          </p:cNvPr>
          <p:cNvSpPr/>
          <p:nvPr/>
        </p:nvSpPr>
        <p:spPr>
          <a:xfrm>
            <a:off x="10356110" y="11201400"/>
            <a:ext cx="540490" cy="533400"/>
          </a:xfrm>
          <a:prstGeom prst="round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3" name="모서리가 둥근 직사각형 22">
            <a:extLst>
              <a:ext uri="{FF2B5EF4-FFF2-40B4-BE49-F238E27FC236}">
                <a16:creationId xmlns:a16="http://schemas.microsoft.com/office/drawing/2014/main" id="{FEE728AF-4462-9841-BEBC-575DE4A27DE5}"/>
              </a:ext>
            </a:extLst>
          </p:cNvPr>
          <p:cNvSpPr/>
          <p:nvPr/>
        </p:nvSpPr>
        <p:spPr>
          <a:xfrm>
            <a:off x="13581171" y="11048999"/>
            <a:ext cx="1302490" cy="664239"/>
          </a:xfrm>
          <a:prstGeom prst="round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4" name="모서리가 둥근 직사각형 23">
            <a:extLst>
              <a:ext uri="{FF2B5EF4-FFF2-40B4-BE49-F238E27FC236}">
                <a16:creationId xmlns:a16="http://schemas.microsoft.com/office/drawing/2014/main" id="{147ECCF3-33B4-E049-58CA-4429578DBEF4}"/>
              </a:ext>
            </a:extLst>
          </p:cNvPr>
          <p:cNvSpPr/>
          <p:nvPr/>
        </p:nvSpPr>
        <p:spPr>
          <a:xfrm>
            <a:off x="16403576" y="11071864"/>
            <a:ext cx="1105601" cy="620382"/>
          </a:xfrm>
          <a:prstGeom prst="round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5" name="모서리가 둥근 직사각형 24">
            <a:extLst>
              <a:ext uri="{FF2B5EF4-FFF2-40B4-BE49-F238E27FC236}">
                <a16:creationId xmlns:a16="http://schemas.microsoft.com/office/drawing/2014/main" id="{A52216E4-85F8-0CF6-8251-F653FA539496}"/>
              </a:ext>
            </a:extLst>
          </p:cNvPr>
          <p:cNvSpPr/>
          <p:nvPr/>
        </p:nvSpPr>
        <p:spPr>
          <a:xfrm>
            <a:off x="17646299" y="11070927"/>
            <a:ext cx="1105601" cy="620382"/>
          </a:xfrm>
          <a:prstGeom prst="round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6" name="모서리가 둥근 직사각형 25">
            <a:extLst>
              <a:ext uri="{FF2B5EF4-FFF2-40B4-BE49-F238E27FC236}">
                <a16:creationId xmlns:a16="http://schemas.microsoft.com/office/drawing/2014/main" id="{3C35ECEC-FF44-36EE-82B0-482914711103}"/>
              </a:ext>
            </a:extLst>
          </p:cNvPr>
          <p:cNvSpPr/>
          <p:nvPr/>
        </p:nvSpPr>
        <p:spPr>
          <a:xfrm>
            <a:off x="19812000" y="11049000"/>
            <a:ext cx="685801" cy="620382"/>
          </a:xfrm>
          <a:prstGeom prst="round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80000"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>
            <a:alphaModFix amt="67000"/>
          </a:blip>
          <a:stretch>
            <a:fillRect/>
          </a:stretch>
        </p:blipFill>
        <p:spPr>
          <a:xfrm>
            <a:off x="14338300" y="-7137400"/>
            <a:ext cx="17792700" cy="1419860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8001000" y="8572500"/>
            <a:ext cx="4203700" cy="495300"/>
          </a:xfrm>
          <a:prstGeom prst="rect">
            <a:avLst/>
          </a:prstGeom>
        </p:spPr>
        <p:txBody>
          <a:bodyPr lIns="0" tIns="0" rIns="0" bIns="17780" rtlCol="0" anchor="b"/>
          <a:lstStyle/>
          <a:p>
            <a:pPr lvl="0" algn="ctr">
              <a:lnSpc>
                <a:spcPct val="107899"/>
              </a:lnSpc>
            </a:pPr>
            <a:r>
              <a:rPr lang="en-US" sz="2800" b="0" i="0" u="none" strike="noStrike" spc="-100">
                <a:solidFill>
                  <a:srgbClr val="262626"/>
                </a:solidFill>
                <a:latin typeface="Gmarket Sans Bold"/>
                <a:ea typeface="Gmarket Sans Bold"/>
                <a:cs typeface="Gmarket Sans Bold"/>
              </a:rPr>
              <a:t>Individual-Level Impact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8013700" y="9271000"/>
            <a:ext cx="4203700" cy="1790700"/>
          </a:xfrm>
          <a:prstGeom prst="rect">
            <a:avLst/>
          </a:prstGeom>
        </p:spPr>
        <p:txBody>
          <a:bodyPr lIns="0" tIns="16933" rIns="0" bIns="0" rtlCol="0" anchor="t"/>
          <a:lstStyle/>
          <a:p>
            <a:pPr lvl="0" algn="ctr">
              <a:lnSpc>
                <a:spcPct val="107899"/>
              </a:lnSpc>
            </a:pPr>
            <a:r>
              <a:rPr lang="en-US" sz="2666" b="0" i="0" u="none" strike="noStrike" spc="-100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- Reduced false fall-detection rate</a:t>
            </a:r>
          </a:p>
          <a:p>
            <a:pPr lvl="0" algn="ctr">
              <a:lnSpc>
                <a:spcPct val="107899"/>
              </a:lnSpc>
            </a:pPr>
            <a:r>
              <a:rPr lang="en-US" sz="2666" b="0" i="0" u="none" strike="noStrike" spc="-100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- Detection time: 1 hour to 3 sec</a:t>
            </a:r>
          </a:p>
          <a:p>
            <a:pPr lvl="0" algn="ctr">
              <a:lnSpc>
                <a:spcPct val="107899"/>
              </a:lnSpc>
            </a:pPr>
            <a:r>
              <a:rPr lang="en-US" sz="2666" b="0" i="0" u="none" strike="noStrike" spc="-100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- Enables participation in daily rehabilitation</a:t>
            </a:r>
          </a:p>
          <a:p>
            <a:pPr lvl="0" algn="ctr">
              <a:lnSpc>
                <a:spcPct val="107899"/>
              </a:lnSpc>
            </a:pPr>
            <a:r>
              <a:rPr lang="en-US" sz="2666" b="0" i="0" u="none" strike="noStrike" spc="-100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- Extended independent living period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470900" y="3733800"/>
            <a:ext cx="3276600" cy="3746500"/>
          </a:xfrm>
          <a:prstGeom prst="rect">
            <a:avLst/>
          </a:prstGeom>
        </p:spPr>
        <p:txBody>
          <a:bodyPr lIns="0" tIns="214037" rIns="0" bIns="214037" rtlCol="0" anchor="ctr"/>
          <a:lstStyle/>
          <a:p>
            <a:pPr lvl="0" algn="ctr">
              <a:lnSpc>
                <a:spcPct val="102919"/>
              </a:lnSpc>
            </a:pPr>
            <a:r>
              <a:rPr lang="en-US" sz="21066" b="0" i="1" u="none" strike="noStrike" cap="all" spc="-300">
                <a:solidFill>
                  <a:srgbClr val="C9C9C9"/>
                </a:solidFill>
                <a:latin typeface="Gmarket Sans Medium"/>
                <a:ea typeface="Gmarket Sans Medium"/>
                <a:cs typeface="Gmarket Sans Medium"/>
              </a:rPr>
              <a:t>1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3360400" y="3733800"/>
            <a:ext cx="3276600" cy="3746500"/>
          </a:xfrm>
          <a:prstGeom prst="rect">
            <a:avLst/>
          </a:prstGeom>
        </p:spPr>
        <p:txBody>
          <a:bodyPr lIns="0" tIns="214037" rIns="0" bIns="214037" rtlCol="0" anchor="ctr"/>
          <a:lstStyle/>
          <a:p>
            <a:pPr lvl="0" algn="ctr">
              <a:lnSpc>
                <a:spcPct val="102919"/>
              </a:lnSpc>
            </a:pPr>
            <a:r>
              <a:rPr lang="en-US" sz="21066" b="0" i="1" u="none" strike="noStrike" cap="all" spc="-300">
                <a:solidFill>
                  <a:srgbClr val="737373"/>
                </a:solidFill>
                <a:latin typeface="Gmarket Sans Medium"/>
                <a:ea typeface="Gmarket Sans Medium"/>
                <a:cs typeface="Gmarket Sans Medium"/>
              </a:rPr>
              <a:t>2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8084800" y="3733800"/>
            <a:ext cx="3276600" cy="3746500"/>
          </a:xfrm>
          <a:prstGeom prst="rect">
            <a:avLst/>
          </a:prstGeom>
        </p:spPr>
        <p:txBody>
          <a:bodyPr lIns="0" tIns="214037" rIns="0" bIns="214037" rtlCol="0" anchor="ctr"/>
          <a:lstStyle/>
          <a:p>
            <a:pPr lvl="0" algn="ctr">
              <a:lnSpc>
                <a:spcPct val="102919"/>
              </a:lnSpc>
            </a:pPr>
            <a:r>
              <a:rPr lang="en-US" sz="21066" b="0" i="1" u="none" strike="noStrike" cap="all" spc="-300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3</a:t>
            </a: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-10800000">
            <a:off x="3098800" y="7493000"/>
            <a:ext cx="18694400" cy="25400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3060700" y="1066800"/>
            <a:ext cx="19100800" cy="1866900"/>
          </a:xfrm>
          <a:prstGeom prst="rect">
            <a:avLst/>
          </a:prstGeom>
        </p:spPr>
        <p:txBody>
          <a:bodyPr lIns="0" tIns="133773" rIns="0" bIns="133773" rtlCol="0" anchor="ctr"/>
          <a:lstStyle/>
          <a:p>
            <a:pPr lvl="0" algn="l">
              <a:lnSpc>
                <a:spcPct val="99600"/>
              </a:lnSpc>
            </a:pPr>
            <a:r>
              <a:rPr lang="en-US" sz="8000" b="0" i="0" u="none" strike="noStrike" spc="-300" dirty="0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Expected Impact and Social Value</a:t>
            </a: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0600" y="6159500"/>
            <a:ext cx="292100" cy="2921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0600" y="6705600"/>
            <a:ext cx="292100" cy="2921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0600" y="7264400"/>
            <a:ext cx="292100" cy="2921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88900" y="5499100"/>
            <a:ext cx="152400" cy="1524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7830800" y="5499100"/>
            <a:ext cx="152400" cy="1524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10">
            <a:alphaModFix amt="21000"/>
          </a:blip>
          <a:stretch>
            <a:fillRect/>
          </a:stretch>
        </p:blipFill>
        <p:spPr>
          <a:xfrm>
            <a:off x="-254000" y="1333500"/>
            <a:ext cx="24879300" cy="254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060700" y="3733800"/>
            <a:ext cx="4483100" cy="7772400"/>
          </a:xfrm>
          <a:prstGeom prst="rect">
            <a:avLst/>
          </a:prstGeom>
        </p:spPr>
      </p:pic>
      <p:sp>
        <p:nvSpPr>
          <p:cNvPr id="18" name="TextBox 18"/>
          <p:cNvSpPr txBox="1"/>
          <p:nvPr/>
        </p:nvSpPr>
        <p:spPr>
          <a:xfrm>
            <a:off x="12890500" y="8572500"/>
            <a:ext cx="4203700" cy="495300"/>
          </a:xfrm>
          <a:prstGeom prst="rect">
            <a:avLst/>
          </a:prstGeom>
        </p:spPr>
        <p:txBody>
          <a:bodyPr lIns="0" tIns="0" rIns="0" bIns="17780" rtlCol="0" anchor="b"/>
          <a:lstStyle/>
          <a:p>
            <a:pPr lvl="0" algn="ctr">
              <a:lnSpc>
                <a:spcPct val="107899"/>
              </a:lnSpc>
            </a:pPr>
            <a:r>
              <a:rPr lang="en-US" sz="2800" b="0" i="0" u="none" strike="noStrike" spc="-100">
                <a:solidFill>
                  <a:srgbClr val="262626"/>
                </a:solidFill>
                <a:latin typeface="Gmarket Sans Bold"/>
                <a:ea typeface="Gmarket Sans Bold"/>
                <a:cs typeface="Gmarket Sans Bold"/>
              </a:rPr>
              <a:t>Societal-Level Impact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2890500" y="9271000"/>
            <a:ext cx="4203700" cy="1358900"/>
          </a:xfrm>
          <a:prstGeom prst="rect">
            <a:avLst/>
          </a:prstGeom>
        </p:spPr>
        <p:txBody>
          <a:bodyPr lIns="0" tIns="16933" rIns="0" bIns="0" rtlCol="0" anchor="t"/>
          <a:lstStyle/>
          <a:p>
            <a:pPr lvl="0" algn="ctr">
              <a:lnSpc>
                <a:spcPct val="107899"/>
              </a:lnSpc>
            </a:pPr>
            <a:r>
              <a:rPr lang="en-US" sz="2666" b="0" i="0" u="none" strike="noStrike" spc="-100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- Reduced healthcare costs</a:t>
            </a:r>
          </a:p>
          <a:p>
            <a:pPr lvl="0" algn="ctr">
              <a:lnSpc>
                <a:spcPct val="107899"/>
              </a:lnSpc>
            </a:pPr>
            <a:r>
              <a:rPr lang="en-US" sz="2666" b="0" i="0" u="none" strike="noStrike" spc="-100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- Eased psychological burden on families</a:t>
            </a:r>
          </a:p>
          <a:p>
            <a:pPr lvl="0" algn="ctr">
              <a:lnSpc>
                <a:spcPct val="107899"/>
              </a:lnSpc>
            </a:pPr>
            <a:r>
              <a:rPr lang="en-US" sz="2666" b="0" i="0" u="none" strike="noStrike" spc="-100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- Applicable to nursing hospitals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7614900" y="8572500"/>
            <a:ext cx="4203700" cy="495300"/>
          </a:xfrm>
          <a:prstGeom prst="rect">
            <a:avLst/>
          </a:prstGeom>
        </p:spPr>
        <p:txBody>
          <a:bodyPr lIns="0" tIns="0" rIns="0" bIns="17780" rtlCol="0" anchor="b"/>
          <a:lstStyle/>
          <a:p>
            <a:pPr lvl="0" algn="ctr">
              <a:lnSpc>
                <a:spcPct val="107899"/>
              </a:lnSpc>
            </a:pPr>
            <a:r>
              <a:rPr lang="ko-KR" altLang="en-US" sz="2800" spc="-100" dirty="0">
                <a:solidFill>
                  <a:srgbClr val="262626"/>
                </a:solidFill>
                <a:latin typeface="Gmarket Sans Bold"/>
                <a:ea typeface="Gmarket Sans Bold"/>
                <a:cs typeface="Gmarket Sans Bold"/>
              </a:rPr>
              <a:t>Technical-Level Impact</a:t>
            </a:r>
            <a:endParaRPr lang="en-US" sz="2800" b="0" i="0" u="none" strike="noStrike" spc="-100" dirty="0">
              <a:solidFill>
                <a:srgbClr val="262626"/>
              </a:solidFill>
              <a:latin typeface="Gmarket Sans Bold"/>
              <a:ea typeface="Gmarket Sans Bold"/>
              <a:cs typeface="Gmarket Sans Bold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17614900" y="9271000"/>
            <a:ext cx="4191000" cy="1790700"/>
          </a:xfrm>
          <a:prstGeom prst="rect">
            <a:avLst/>
          </a:prstGeom>
        </p:spPr>
        <p:txBody>
          <a:bodyPr lIns="0" tIns="16933" rIns="0" bIns="0" rtlCol="0" anchor="t"/>
          <a:lstStyle/>
          <a:p>
            <a:pPr lvl="0" algn="ctr">
              <a:lnSpc>
                <a:spcPct val="107899"/>
              </a:lnSpc>
            </a:pPr>
            <a:r>
              <a:rPr lang="en-US" sz="2666" b="0" i="0" u="none" strike="noStrike" spc="-100" dirty="0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- Improved real-time detection accuracy</a:t>
            </a:r>
          </a:p>
          <a:p>
            <a:pPr lvl="0" algn="ctr">
              <a:lnSpc>
                <a:spcPct val="107899"/>
              </a:lnSpc>
            </a:pPr>
            <a:r>
              <a:rPr lang="en-US" sz="2666" b="0" i="0" u="none" strike="noStrike" spc="-100" dirty="0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- Privacy protection via edge devices</a:t>
            </a:r>
          </a:p>
          <a:p>
            <a:pPr lvl="0" algn="ctr">
              <a:lnSpc>
                <a:spcPct val="107899"/>
              </a:lnSpc>
            </a:pPr>
            <a:r>
              <a:rPr lang="en-US" sz="2666" b="0" i="0" u="none" strike="noStrike" spc="-100" dirty="0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- Scalability through caregiver alerts and app integration</a:t>
            </a:r>
          </a:p>
          <a:p>
            <a:pPr lvl="0" algn="ctr">
              <a:lnSpc>
                <a:spcPct val="107899"/>
              </a:lnSpc>
            </a:pPr>
            <a:endParaRPr lang="en-US" sz="2666" b="0" i="0" u="none" strike="noStrike" spc="-100" dirty="0">
              <a:solidFill>
                <a:srgbClr val="262626"/>
              </a:solidFill>
              <a:latin typeface="Gmarket Sans Medium"/>
              <a:ea typeface="Gmarket Sans Medium"/>
              <a:cs typeface="Gmarket Sans Medium"/>
            </a:endParaRPr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03300" y="419100"/>
            <a:ext cx="2324100" cy="698500"/>
          </a:xfrm>
          <a:prstGeom prst="rect">
            <a:avLst/>
          </a:prstGeom>
        </p:spPr>
      </p:pic>
      <p:sp>
        <p:nvSpPr>
          <p:cNvPr id="23" name="TextBox 23"/>
          <p:cNvSpPr txBox="1"/>
          <p:nvPr/>
        </p:nvSpPr>
        <p:spPr>
          <a:xfrm>
            <a:off x="1231900" y="596900"/>
            <a:ext cx="1841500" cy="330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9518"/>
              </a:lnSpc>
            </a:pPr>
            <a:r>
              <a:rPr lang="en-US" sz="1866" b="1" i="0" u="none" strike="noStrike" spc="-100">
                <a:solidFill>
                  <a:srgbClr val="000000"/>
                </a:solidFill>
                <a:latin typeface="Gmarket Sans Bold"/>
                <a:ea typeface="Gmarket Sans Bold"/>
                <a:cs typeface="Gmarket Sans Bold"/>
              </a:rPr>
              <a:t>Team Choco Haim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80000"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>
            <a:alphaModFix amt="67000"/>
          </a:blip>
          <a:stretch>
            <a:fillRect/>
          </a:stretch>
        </p:blipFill>
        <p:spPr>
          <a:xfrm>
            <a:off x="-8356600" y="-6756400"/>
            <a:ext cx="16713200" cy="142113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0600" y="6159500"/>
            <a:ext cx="292100" cy="2921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0600" y="6705600"/>
            <a:ext cx="292100" cy="2921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0600" y="7264400"/>
            <a:ext cx="292100" cy="292100"/>
          </a:xfrm>
          <a:prstGeom prst="rect">
            <a:avLst/>
          </a:prstGeom>
        </p:spPr>
      </p:pic>
      <p:sp>
        <p:nvSpPr>
          <p:cNvPr id="7" name="TextBox 7"/>
          <p:cNvSpPr txBox="1"/>
          <p:nvPr/>
        </p:nvSpPr>
        <p:spPr>
          <a:xfrm>
            <a:off x="1854200" y="1701800"/>
            <a:ext cx="20218400" cy="1866900"/>
          </a:xfrm>
          <a:prstGeom prst="rect">
            <a:avLst/>
          </a:prstGeom>
        </p:spPr>
        <p:txBody>
          <a:bodyPr lIns="0" tIns="133773" rIns="0" bIns="133773" rtlCol="0" anchor="ctr"/>
          <a:lstStyle/>
          <a:p>
            <a:pPr lvl="0" algn="l">
              <a:lnSpc>
                <a:spcPct val="99600"/>
              </a:lnSpc>
            </a:pPr>
            <a:r>
              <a:rPr lang="en-US" sz="8800" b="0" i="0" u="none" strike="noStrike" spc="-500" dirty="0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Conclusion and Future Work</a:t>
            </a: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54200" y="4064000"/>
            <a:ext cx="20688300" cy="254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8">
            <a:alphaModFix amt="21000"/>
          </a:blip>
          <a:stretch>
            <a:fillRect/>
          </a:stretch>
        </p:blipFill>
        <p:spPr>
          <a:xfrm>
            <a:off x="-254000" y="1333500"/>
            <a:ext cx="24879300" cy="254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854200" y="4483100"/>
            <a:ext cx="4953000" cy="31369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099300" y="4483100"/>
            <a:ext cx="4953000" cy="31369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2344400" y="4483100"/>
            <a:ext cx="4953000" cy="31369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7576800" y="4483100"/>
            <a:ext cx="4953000" cy="3136900"/>
          </a:xfrm>
          <a:prstGeom prst="rect">
            <a:avLst/>
          </a:prstGeom>
        </p:spPr>
      </p:pic>
      <p:sp>
        <p:nvSpPr>
          <p:cNvPr id="14" name="TextBox 14"/>
          <p:cNvSpPr txBox="1"/>
          <p:nvPr/>
        </p:nvSpPr>
        <p:spPr>
          <a:xfrm>
            <a:off x="1790700" y="9347200"/>
            <a:ext cx="5067300" cy="2768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32800"/>
              </a:lnSpc>
            </a:pPr>
            <a:r>
              <a:rPr lang="en-US" sz="2800" b="0" i="0" u="none" strike="noStrike" spc="-100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- Integrated Edge AI platform</a:t>
            </a:r>
          </a:p>
          <a:p>
            <a:pPr lvl="0" algn="ctr">
              <a:lnSpc>
                <a:spcPct val="132800"/>
              </a:lnSpc>
            </a:pPr>
            <a:r>
              <a:rPr lang="en-US" sz="2800" b="0" i="0" u="none" strike="noStrike" spc="-100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- ST-GCN + Physics Rescue</a:t>
            </a:r>
          </a:p>
          <a:p>
            <a:pPr lvl="0" algn="ctr">
              <a:lnSpc>
                <a:spcPct val="132800"/>
              </a:lnSpc>
            </a:pPr>
            <a:r>
              <a:rPr lang="en-US" sz="2800" b="0" i="0" u="none" strike="noStrike" spc="-100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- Fall F1-score of 0.955 achieved</a:t>
            </a:r>
          </a:p>
          <a:p>
            <a:pPr lvl="0" algn="ctr">
              <a:lnSpc>
                <a:spcPct val="132800"/>
              </a:lnSpc>
            </a:pPr>
            <a:r>
              <a:rPr lang="en-US" sz="2800" b="0" i="0" u="none" strike="noStrike" spc="-100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- Real-time alert system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803400" y="8534400"/>
            <a:ext cx="5054600" cy="571500"/>
          </a:xfrm>
          <a:prstGeom prst="rect">
            <a:avLst/>
          </a:prstGeom>
        </p:spPr>
        <p:txBody>
          <a:bodyPr lIns="0" tIns="0" rIns="0" bIns="20320" rtlCol="0" anchor="b"/>
          <a:lstStyle/>
          <a:p>
            <a:pPr lvl="0" algn="ctr">
              <a:lnSpc>
                <a:spcPct val="107899"/>
              </a:lnSpc>
            </a:pPr>
            <a:r>
              <a:rPr lang="en-US" sz="3200" b="0" i="0" u="none" strike="noStrike" spc="-100">
                <a:solidFill>
                  <a:srgbClr val="262626"/>
                </a:solidFill>
                <a:latin typeface="Gmarket Sans Bold"/>
                <a:ea typeface="Gmarket Sans Bold"/>
                <a:cs typeface="Gmarket Sans Bold"/>
              </a:rPr>
              <a:t>Completed Implementation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035800" y="9347200"/>
            <a:ext cx="5067300" cy="1638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32800"/>
              </a:lnSpc>
            </a:pPr>
            <a:r>
              <a:rPr lang="en-US" sz="2800" b="0" i="0" u="none" strike="noStrike" spc="-100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- LOSO cross-validation</a:t>
            </a:r>
          </a:p>
          <a:p>
            <a:pPr lvl="0" algn="ctr">
              <a:lnSpc>
                <a:spcPct val="132800"/>
              </a:lnSpc>
            </a:pPr>
            <a:r>
              <a:rPr lang="en-US" sz="2800" b="0" i="0" u="none" strike="noStrike" spc="-100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- Extend to subjects 1-17</a:t>
            </a:r>
          </a:p>
          <a:p>
            <a:pPr lvl="0" algn="ctr">
              <a:lnSpc>
                <a:spcPct val="132800"/>
              </a:lnSpc>
            </a:pPr>
            <a:r>
              <a:rPr lang="en-US" sz="2800" b="0" i="0" u="none" strike="noStrike" spc="-100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- Real-world data collection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048500" y="8534400"/>
            <a:ext cx="5054600" cy="571500"/>
          </a:xfrm>
          <a:prstGeom prst="rect">
            <a:avLst/>
          </a:prstGeom>
        </p:spPr>
        <p:txBody>
          <a:bodyPr lIns="0" tIns="0" rIns="0" bIns="20320" rtlCol="0" anchor="b"/>
          <a:lstStyle/>
          <a:p>
            <a:pPr lvl="0" algn="ctr">
              <a:lnSpc>
                <a:spcPct val="107899"/>
              </a:lnSpc>
            </a:pPr>
            <a:r>
              <a:rPr lang="en-US" sz="3200" b="0" i="0" u="none" strike="noStrike" spc="-100">
                <a:solidFill>
                  <a:srgbClr val="262626"/>
                </a:solidFill>
                <a:latin typeface="Gmarket Sans Bold"/>
                <a:ea typeface="Gmarket Sans Bold"/>
                <a:cs typeface="Gmarket Sans Bold"/>
              </a:rPr>
              <a:t>Future Experiment Plan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2280900" y="9347200"/>
            <a:ext cx="5067300" cy="1638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32800"/>
              </a:lnSpc>
            </a:pPr>
            <a:r>
              <a:rPr lang="en-US" sz="2800" b="0" i="0" u="none" strike="noStrike" spc="-100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- LSTM baseline</a:t>
            </a:r>
          </a:p>
          <a:p>
            <a:pPr lvl="0" algn="ctr">
              <a:lnSpc>
                <a:spcPct val="132800"/>
              </a:lnSpc>
            </a:pPr>
            <a:r>
              <a:rPr lang="en-US" sz="2800" b="0" i="0" u="none" strike="noStrike" spc="-100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- TCN baseline</a:t>
            </a:r>
          </a:p>
          <a:p>
            <a:pPr lvl="0" algn="ctr">
              <a:lnSpc>
                <a:spcPct val="132800"/>
              </a:lnSpc>
            </a:pPr>
            <a:r>
              <a:rPr lang="en-US" sz="2800" b="0" i="0" u="none" strike="noStrike" spc="-100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- Comparison for paper submission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2293600" y="8534400"/>
            <a:ext cx="5054600" cy="571500"/>
          </a:xfrm>
          <a:prstGeom prst="rect">
            <a:avLst/>
          </a:prstGeom>
        </p:spPr>
        <p:txBody>
          <a:bodyPr lIns="0" tIns="0" rIns="0" bIns="20320" rtlCol="0" anchor="b"/>
          <a:lstStyle/>
          <a:p>
            <a:pPr lvl="0" algn="ctr">
              <a:lnSpc>
                <a:spcPct val="107899"/>
              </a:lnSpc>
            </a:pPr>
            <a:r>
              <a:rPr lang="en-US" sz="3200" b="0" i="0" u="none" strike="noStrike" spc="-100">
                <a:solidFill>
                  <a:srgbClr val="262626"/>
                </a:solidFill>
                <a:latin typeface="Gmarket Sans Bold"/>
                <a:ea typeface="Gmarket Sans Bold"/>
                <a:cs typeface="Gmarket Sans Bold"/>
              </a:rPr>
              <a:t>Baseline Comparison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7526000" y="9347200"/>
            <a:ext cx="5067300" cy="2209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32800"/>
              </a:lnSpc>
            </a:pPr>
            <a:r>
              <a:rPr lang="en-US" sz="2800" b="0" i="0" u="none" strike="noStrike" spc="-100" dirty="0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- Protecting the lives of elderly living alone</a:t>
            </a:r>
          </a:p>
          <a:p>
            <a:pPr lvl="0" algn="ctr">
              <a:lnSpc>
                <a:spcPct val="132800"/>
              </a:lnSpc>
            </a:pPr>
            <a:r>
              <a:rPr lang="en-US" sz="2800" b="0" i="0" u="none" strike="noStrike" spc="-100" dirty="0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- Supporting a dignified life</a:t>
            </a:r>
          </a:p>
          <a:p>
            <a:pPr lvl="0" algn="ctr">
              <a:lnSpc>
                <a:spcPct val="132800"/>
              </a:lnSpc>
            </a:pPr>
            <a:r>
              <a:rPr lang="en-US" sz="2800" b="0" i="0" u="none" strike="noStrike" spc="-100" dirty="0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- A solution for the super-aged society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7538700" y="8534400"/>
            <a:ext cx="5054600" cy="571500"/>
          </a:xfrm>
          <a:prstGeom prst="rect">
            <a:avLst/>
          </a:prstGeom>
        </p:spPr>
        <p:txBody>
          <a:bodyPr lIns="0" tIns="0" rIns="0" bIns="20320" rtlCol="0" anchor="b"/>
          <a:lstStyle/>
          <a:p>
            <a:pPr lvl="0" algn="ctr">
              <a:lnSpc>
                <a:spcPct val="107899"/>
              </a:lnSpc>
            </a:pPr>
            <a:r>
              <a:rPr lang="en-US" sz="3200" b="0" i="0" u="none" strike="noStrike" spc="-100">
                <a:solidFill>
                  <a:srgbClr val="262626"/>
                </a:solidFill>
                <a:latin typeface="Gmarket Sans Bold"/>
                <a:ea typeface="Gmarket Sans Bold"/>
                <a:cs typeface="Gmarket Sans Bold"/>
              </a:rPr>
              <a:t>Final Vision</a:t>
            </a:r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03300" y="419100"/>
            <a:ext cx="2324100" cy="698500"/>
          </a:xfrm>
          <a:prstGeom prst="rect">
            <a:avLst/>
          </a:prstGeom>
        </p:spPr>
      </p:pic>
      <p:sp>
        <p:nvSpPr>
          <p:cNvPr id="23" name="TextBox 23"/>
          <p:cNvSpPr txBox="1"/>
          <p:nvPr/>
        </p:nvSpPr>
        <p:spPr>
          <a:xfrm>
            <a:off x="1231900" y="596900"/>
            <a:ext cx="1841500" cy="330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9518"/>
              </a:lnSpc>
            </a:pPr>
            <a:r>
              <a:rPr lang="en-US" sz="1866" b="1" i="0" u="none" strike="noStrike" spc="-100">
                <a:solidFill>
                  <a:srgbClr val="000000"/>
                </a:solidFill>
                <a:latin typeface="Gmarket Sans Bold"/>
                <a:ea typeface="Gmarket Sans Bold"/>
                <a:cs typeface="Gmarket Sans Bold"/>
              </a:rPr>
              <a:t>Team Choco Haim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1048</Words>
  <Application>Microsoft Office PowerPoint</Application>
  <PresentationFormat>사용자 지정</PresentationFormat>
  <Paragraphs>197</Paragraphs>
  <Slides>12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8" baseType="lpstr">
      <vt:lpstr>Gmarket Sans Bold</vt:lpstr>
      <vt:lpstr>Calibri</vt:lpstr>
      <vt:lpstr>맑은 고딕</vt:lpstr>
      <vt:lpstr>Arial</vt:lpstr>
      <vt:lpstr>Gmarket Sans Medium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cp:lastModifiedBy>다민 김</cp:lastModifiedBy>
  <cp:revision>18</cp:revision>
  <dcterms:created xsi:type="dcterms:W3CDTF">2006-08-16T00:00:00Z</dcterms:created>
  <dcterms:modified xsi:type="dcterms:W3CDTF">2026-07-04T14:10:16Z</dcterms:modified>
</cp:coreProperties>
</file>