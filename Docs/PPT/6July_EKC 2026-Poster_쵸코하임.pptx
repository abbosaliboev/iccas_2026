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30275213" cy="428037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3482" userDrawn="1">
          <p15:clr>
            <a:srgbClr val="A4A3A4"/>
          </p15:clr>
        </p15:guide>
        <p15:guide id="2" pos="953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FAADC"/>
    <a:srgbClr val="FFD966"/>
    <a:srgbClr val="A9D18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9" autoAdjust="0"/>
    <p:restoredTop sz="94660"/>
  </p:normalViewPr>
  <p:slideViewPr>
    <p:cSldViewPr snapToGrid="0" showGuides="1">
      <p:cViewPr varScale="1">
        <p:scale>
          <a:sx n="18" d="100"/>
          <a:sy n="18" d="100"/>
        </p:scale>
        <p:origin x="428" y="144"/>
      </p:cViewPr>
      <p:guideLst>
        <p:guide orient="horz" pos="13482"/>
        <p:guide pos="953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70641" y="7005156"/>
            <a:ext cx="25733931" cy="14902051"/>
          </a:xfrm>
        </p:spPr>
        <p:txBody>
          <a:bodyPr anchor="b"/>
          <a:lstStyle>
            <a:lvl1pPr algn="ctr">
              <a:defRPr sz="19865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784402" y="22481887"/>
            <a:ext cx="22706410" cy="10334331"/>
          </a:xfrm>
        </p:spPr>
        <p:txBody>
          <a:bodyPr/>
          <a:lstStyle>
            <a:lvl1pPr marL="0" indent="0" algn="ctr">
              <a:buNone/>
              <a:defRPr sz="7946"/>
            </a:lvl1pPr>
            <a:lvl2pPr marL="1513743" indent="0" algn="ctr">
              <a:buNone/>
              <a:defRPr sz="6622"/>
            </a:lvl2pPr>
            <a:lvl3pPr marL="3027487" indent="0" algn="ctr">
              <a:buNone/>
              <a:defRPr sz="5960"/>
            </a:lvl3pPr>
            <a:lvl4pPr marL="4541230" indent="0" algn="ctr">
              <a:buNone/>
              <a:defRPr sz="5297"/>
            </a:lvl4pPr>
            <a:lvl5pPr marL="6054974" indent="0" algn="ctr">
              <a:buNone/>
              <a:defRPr sz="5297"/>
            </a:lvl5pPr>
            <a:lvl6pPr marL="7568717" indent="0" algn="ctr">
              <a:buNone/>
              <a:defRPr sz="5297"/>
            </a:lvl6pPr>
            <a:lvl7pPr marL="9082461" indent="0" algn="ctr">
              <a:buNone/>
              <a:defRPr sz="5297"/>
            </a:lvl7pPr>
            <a:lvl8pPr marL="10596204" indent="0" algn="ctr">
              <a:buNone/>
              <a:defRPr sz="5297"/>
            </a:lvl8pPr>
            <a:lvl9pPr marL="12109948" indent="0" algn="ctr">
              <a:buNone/>
              <a:defRPr sz="5297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30CD79-0346-41F8-BD4F-8959D1132CB4}" type="datetimeFigureOut">
              <a:rPr lang="ko-KR" altLang="en-US" smtClean="0"/>
              <a:t>2026-07-05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A362EE-6FA0-4CFE-AED6-9C13AA45DEA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54148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30CD79-0346-41F8-BD4F-8959D1132CB4}" type="datetimeFigureOut">
              <a:rPr lang="ko-KR" altLang="en-US" smtClean="0"/>
              <a:t>2026-07-05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A362EE-6FA0-4CFE-AED6-9C13AA45DEA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966852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65654" y="10671229"/>
            <a:ext cx="26112371" cy="17805173"/>
          </a:xfrm>
        </p:spPr>
        <p:txBody>
          <a:bodyPr anchor="b"/>
          <a:lstStyle>
            <a:lvl1pPr>
              <a:defRPr sz="19865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65654" y="28644846"/>
            <a:ext cx="26112371" cy="9363320"/>
          </a:xfrm>
        </p:spPr>
        <p:txBody>
          <a:bodyPr/>
          <a:lstStyle>
            <a:lvl1pPr marL="0" indent="0">
              <a:buNone/>
              <a:defRPr sz="7946">
                <a:solidFill>
                  <a:schemeClr val="tx1"/>
                </a:solidFill>
              </a:defRPr>
            </a:lvl1pPr>
            <a:lvl2pPr marL="1513743" indent="0">
              <a:buNone/>
              <a:defRPr sz="6622">
                <a:solidFill>
                  <a:schemeClr val="tx1">
                    <a:tint val="75000"/>
                  </a:schemeClr>
                </a:solidFill>
              </a:defRPr>
            </a:lvl2pPr>
            <a:lvl3pPr marL="3027487" indent="0">
              <a:buNone/>
              <a:defRPr sz="5960">
                <a:solidFill>
                  <a:schemeClr val="tx1">
                    <a:tint val="75000"/>
                  </a:schemeClr>
                </a:solidFill>
              </a:defRPr>
            </a:lvl3pPr>
            <a:lvl4pPr marL="4541230" indent="0">
              <a:buNone/>
              <a:defRPr sz="5297">
                <a:solidFill>
                  <a:schemeClr val="tx1">
                    <a:tint val="75000"/>
                  </a:schemeClr>
                </a:solidFill>
              </a:defRPr>
            </a:lvl4pPr>
            <a:lvl5pPr marL="6054974" indent="0">
              <a:buNone/>
              <a:defRPr sz="5297">
                <a:solidFill>
                  <a:schemeClr val="tx1">
                    <a:tint val="75000"/>
                  </a:schemeClr>
                </a:solidFill>
              </a:defRPr>
            </a:lvl5pPr>
            <a:lvl6pPr marL="7568717" indent="0">
              <a:buNone/>
              <a:defRPr sz="5297">
                <a:solidFill>
                  <a:schemeClr val="tx1">
                    <a:tint val="75000"/>
                  </a:schemeClr>
                </a:solidFill>
              </a:defRPr>
            </a:lvl6pPr>
            <a:lvl7pPr marL="9082461" indent="0">
              <a:buNone/>
              <a:defRPr sz="5297">
                <a:solidFill>
                  <a:schemeClr val="tx1">
                    <a:tint val="75000"/>
                  </a:schemeClr>
                </a:solidFill>
              </a:defRPr>
            </a:lvl7pPr>
            <a:lvl8pPr marL="10596204" indent="0">
              <a:buNone/>
              <a:defRPr sz="5297">
                <a:solidFill>
                  <a:schemeClr val="tx1">
                    <a:tint val="75000"/>
                  </a:schemeClr>
                </a:solidFill>
              </a:defRPr>
            </a:lvl8pPr>
            <a:lvl9pPr marL="12109948" indent="0">
              <a:buNone/>
              <a:defRPr sz="529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30CD79-0346-41F8-BD4F-8959D1132CB4}" type="datetimeFigureOut">
              <a:rPr lang="ko-KR" altLang="en-US" smtClean="0"/>
              <a:t>2026-07-05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A362EE-6FA0-4CFE-AED6-9C13AA45DEA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740016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081421" y="11394520"/>
            <a:ext cx="12866966" cy="27158594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326826" y="11394520"/>
            <a:ext cx="12866966" cy="27158594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30CD79-0346-41F8-BD4F-8959D1132CB4}" type="datetimeFigureOut">
              <a:rPr lang="ko-KR" altLang="en-US" smtClean="0"/>
              <a:t>2026-07-05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A362EE-6FA0-4CFE-AED6-9C13AA45DEA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03462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5364" y="2278913"/>
            <a:ext cx="26112371" cy="8273416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85368" y="10492870"/>
            <a:ext cx="12807832" cy="5142393"/>
          </a:xfrm>
        </p:spPr>
        <p:txBody>
          <a:bodyPr anchor="b"/>
          <a:lstStyle>
            <a:lvl1pPr marL="0" indent="0">
              <a:buNone/>
              <a:defRPr sz="7946" b="1"/>
            </a:lvl1pPr>
            <a:lvl2pPr marL="1513743" indent="0">
              <a:buNone/>
              <a:defRPr sz="6622" b="1"/>
            </a:lvl2pPr>
            <a:lvl3pPr marL="3027487" indent="0">
              <a:buNone/>
              <a:defRPr sz="5960" b="1"/>
            </a:lvl3pPr>
            <a:lvl4pPr marL="4541230" indent="0">
              <a:buNone/>
              <a:defRPr sz="5297" b="1"/>
            </a:lvl4pPr>
            <a:lvl5pPr marL="6054974" indent="0">
              <a:buNone/>
              <a:defRPr sz="5297" b="1"/>
            </a:lvl5pPr>
            <a:lvl6pPr marL="7568717" indent="0">
              <a:buNone/>
              <a:defRPr sz="5297" b="1"/>
            </a:lvl6pPr>
            <a:lvl7pPr marL="9082461" indent="0">
              <a:buNone/>
              <a:defRPr sz="5297" b="1"/>
            </a:lvl7pPr>
            <a:lvl8pPr marL="10596204" indent="0">
              <a:buNone/>
              <a:defRPr sz="5297" b="1"/>
            </a:lvl8pPr>
            <a:lvl9pPr marL="12109948" indent="0">
              <a:buNone/>
              <a:defRPr sz="5297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085368" y="15635264"/>
            <a:ext cx="12807832" cy="22997117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5326828" y="10492870"/>
            <a:ext cx="12870909" cy="5142393"/>
          </a:xfrm>
        </p:spPr>
        <p:txBody>
          <a:bodyPr anchor="b"/>
          <a:lstStyle>
            <a:lvl1pPr marL="0" indent="0">
              <a:buNone/>
              <a:defRPr sz="7946" b="1"/>
            </a:lvl1pPr>
            <a:lvl2pPr marL="1513743" indent="0">
              <a:buNone/>
              <a:defRPr sz="6622" b="1"/>
            </a:lvl2pPr>
            <a:lvl3pPr marL="3027487" indent="0">
              <a:buNone/>
              <a:defRPr sz="5960" b="1"/>
            </a:lvl3pPr>
            <a:lvl4pPr marL="4541230" indent="0">
              <a:buNone/>
              <a:defRPr sz="5297" b="1"/>
            </a:lvl4pPr>
            <a:lvl5pPr marL="6054974" indent="0">
              <a:buNone/>
              <a:defRPr sz="5297" b="1"/>
            </a:lvl5pPr>
            <a:lvl6pPr marL="7568717" indent="0">
              <a:buNone/>
              <a:defRPr sz="5297" b="1"/>
            </a:lvl6pPr>
            <a:lvl7pPr marL="9082461" indent="0">
              <a:buNone/>
              <a:defRPr sz="5297" b="1"/>
            </a:lvl7pPr>
            <a:lvl8pPr marL="10596204" indent="0">
              <a:buNone/>
              <a:defRPr sz="5297" b="1"/>
            </a:lvl8pPr>
            <a:lvl9pPr marL="12109948" indent="0">
              <a:buNone/>
              <a:defRPr sz="5297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5326828" y="15635264"/>
            <a:ext cx="12870909" cy="22997117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30CD79-0346-41F8-BD4F-8959D1132CB4}" type="datetimeFigureOut">
              <a:rPr lang="ko-KR" altLang="en-US" smtClean="0"/>
              <a:t>2026-07-05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A362EE-6FA0-4CFE-AED6-9C13AA45DEA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414636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30CD79-0346-41F8-BD4F-8959D1132CB4}" type="datetimeFigureOut">
              <a:rPr lang="ko-KR" altLang="en-US" smtClean="0"/>
              <a:t>2026-07-05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A362EE-6FA0-4CFE-AED6-9C13AA45DEA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345529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30CD79-0346-41F8-BD4F-8959D1132CB4}" type="datetimeFigureOut">
              <a:rPr lang="ko-KR" altLang="en-US" smtClean="0"/>
              <a:t>2026-07-05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A362EE-6FA0-4CFE-AED6-9C13AA45DEA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948759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5364" y="2853584"/>
            <a:ext cx="9764544" cy="9987545"/>
          </a:xfrm>
        </p:spPr>
        <p:txBody>
          <a:bodyPr anchor="b"/>
          <a:lstStyle>
            <a:lvl1pPr>
              <a:defRPr sz="10595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870909" y="6162959"/>
            <a:ext cx="15326827" cy="30418415"/>
          </a:xfrm>
        </p:spPr>
        <p:txBody>
          <a:bodyPr/>
          <a:lstStyle>
            <a:lvl1pPr>
              <a:defRPr sz="10595"/>
            </a:lvl1pPr>
            <a:lvl2pPr>
              <a:defRPr sz="9271"/>
            </a:lvl2pPr>
            <a:lvl3pPr>
              <a:defRPr sz="7946"/>
            </a:lvl3pPr>
            <a:lvl4pPr>
              <a:defRPr sz="6622"/>
            </a:lvl4pPr>
            <a:lvl5pPr>
              <a:defRPr sz="6622"/>
            </a:lvl5pPr>
            <a:lvl6pPr>
              <a:defRPr sz="6622"/>
            </a:lvl6pPr>
            <a:lvl7pPr>
              <a:defRPr sz="6622"/>
            </a:lvl7pPr>
            <a:lvl8pPr>
              <a:defRPr sz="6622"/>
            </a:lvl8pPr>
            <a:lvl9pPr>
              <a:defRPr sz="6622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85364" y="12841129"/>
            <a:ext cx="9764544" cy="23789780"/>
          </a:xfrm>
        </p:spPr>
        <p:txBody>
          <a:bodyPr/>
          <a:lstStyle>
            <a:lvl1pPr marL="0" indent="0">
              <a:buNone/>
              <a:defRPr sz="5297"/>
            </a:lvl1pPr>
            <a:lvl2pPr marL="1513743" indent="0">
              <a:buNone/>
              <a:defRPr sz="4635"/>
            </a:lvl2pPr>
            <a:lvl3pPr marL="3027487" indent="0">
              <a:buNone/>
              <a:defRPr sz="3973"/>
            </a:lvl3pPr>
            <a:lvl4pPr marL="4541230" indent="0">
              <a:buNone/>
              <a:defRPr sz="3311"/>
            </a:lvl4pPr>
            <a:lvl5pPr marL="6054974" indent="0">
              <a:buNone/>
              <a:defRPr sz="3311"/>
            </a:lvl5pPr>
            <a:lvl6pPr marL="7568717" indent="0">
              <a:buNone/>
              <a:defRPr sz="3311"/>
            </a:lvl6pPr>
            <a:lvl7pPr marL="9082461" indent="0">
              <a:buNone/>
              <a:defRPr sz="3311"/>
            </a:lvl7pPr>
            <a:lvl8pPr marL="10596204" indent="0">
              <a:buNone/>
              <a:defRPr sz="3311"/>
            </a:lvl8pPr>
            <a:lvl9pPr marL="12109948" indent="0">
              <a:buNone/>
              <a:defRPr sz="331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30CD79-0346-41F8-BD4F-8959D1132CB4}" type="datetimeFigureOut">
              <a:rPr lang="ko-KR" altLang="en-US" smtClean="0"/>
              <a:t>2026-07-05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A362EE-6FA0-4CFE-AED6-9C13AA45DEA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695382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5364" y="2853584"/>
            <a:ext cx="9764544" cy="9987545"/>
          </a:xfrm>
        </p:spPr>
        <p:txBody>
          <a:bodyPr anchor="b"/>
          <a:lstStyle>
            <a:lvl1pPr>
              <a:defRPr sz="10595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870909" y="6162959"/>
            <a:ext cx="15326827" cy="30418415"/>
          </a:xfrm>
        </p:spPr>
        <p:txBody>
          <a:bodyPr anchor="t"/>
          <a:lstStyle>
            <a:lvl1pPr marL="0" indent="0">
              <a:buNone/>
              <a:defRPr sz="10595"/>
            </a:lvl1pPr>
            <a:lvl2pPr marL="1513743" indent="0">
              <a:buNone/>
              <a:defRPr sz="9271"/>
            </a:lvl2pPr>
            <a:lvl3pPr marL="3027487" indent="0">
              <a:buNone/>
              <a:defRPr sz="7946"/>
            </a:lvl3pPr>
            <a:lvl4pPr marL="4541230" indent="0">
              <a:buNone/>
              <a:defRPr sz="6622"/>
            </a:lvl4pPr>
            <a:lvl5pPr marL="6054974" indent="0">
              <a:buNone/>
              <a:defRPr sz="6622"/>
            </a:lvl5pPr>
            <a:lvl6pPr marL="7568717" indent="0">
              <a:buNone/>
              <a:defRPr sz="6622"/>
            </a:lvl6pPr>
            <a:lvl7pPr marL="9082461" indent="0">
              <a:buNone/>
              <a:defRPr sz="6622"/>
            </a:lvl7pPr>
            <a:lvl8pPr marL="10596204" indent="0">
              <a:buNone/>
              <a:defRPr sz="6622"/>
            </a:lvl8pPr>
            <a:lvl9pPr marL="12109948" indent="0">
              <a:buNone/>
              <a:defRPr sz="6622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85364" y="12841129"/>
            <a:ext cx="9764544" cy="23789780"/>
          </a:xfrm>
        </p:spPr>
        <p:txBody>
          <a:bodyPr/>
          <a:lstStyle>
            <a:lvl1pPr marL="0" indent="0">
              <a:buNone/>
              <a:defRPr sz="5297"/>
            </a:lvl1pPr>
            <a:lvl2pPr marL="1513743" indent="0">
              <a:buNone/>
              <a:defRPr sz="4635"/>
            </a:lvl2pPr>
            <a:lvl3pPr marL="3027487" indent="0">
              <a:buNone/>
              <a:defRPr sz="3973"/>
            </a:lvl3pPr>
            <a:lvl4pPr marL="4541230" indent="0">
              <a:buNone/>
              <a:defRPr sz="3311"/>
            </a:lvl4pPr>
            <a:lvl5pPr marL="6054974" indent="0">
              <a:buNone/>
              <a:defRPr sz="3311"/>
            </a:lvl5pPr>
            <a:lvl6pPr marL="7568717" indent="0">
              <a:buNone/>
              <a:defRPr sz="3311"/>
            </a:lvl6pPr>
            <a:lvl7pPr marL="9082461" indent="0">
              <a:buNone/>
              <a:defRPr sz="3311"/>
            </a:lvl7pPr>
            <a:lvl8pPr marL="10596204" indent="0">
              <a:buNone/>
              <a:defRPr sz="3311"/>
            </a:lvl8pPr>
            <a:lvl9pPr marL="12109948" indent="0">
              <a:buNone/>
              <a:defRPr sz="331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30CD79-0346-41F8-BD4F-8959D1132CB4}" type="datetimeFigureOut">
              <a:rPr lang="ko-KR" altLang="en-US" smtClean="0"/>
              <a:t>2026-07-05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A362EE-6FA0-4CFE-AED6-9C13AA45DEA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899179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30CD79-0346-41F8-BD4F-8959D1132CB4}" type="datetimeFigureOut">
              <a:rPr lang="ko-KR" altLang="en-US" smtClean="0"/>
              <a:t>2026-07-05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A362EE-6FA0-4CFE-AED6-9C13AA45DEA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992389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1665701" y="2278904"/>
            <a:ext cx="6528093" cy="36274211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081423" y="2278904"/>
            <a:ext cx="19205838" cy="36274211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30CD79-0346-41F8-BD4F-8959D1132CB4}" type="datetimeFigureOut">
              <a:rPr lang="ko-KR" altLang="en-US" smtClean="0"/>
              <a:t>2026-07-05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A362EE-6FA0-4CFE-AED6-9C13AA45DEA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331070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081421" y="2278913"/>
            <a:ext cx="26112371" cy="82734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81421" y="11394520"/>
            <a:ext cx="26112371" cy="271585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081421" y="39672756"/>
            <a:ext cx="6811923" cy="22789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97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30CD79-0346-41F8-BD4F-8959D1132CB4}" type="datetimeFigureOut">
              <a:rPr lang="ko-KR" altLang="en-US" smtClean="0"/>
              <a:t>2026-07-05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028665" y="39672756"/>
            <a:ext cx="10217884" cy="22789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97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1381869" y="39672756"/>
            <a:ext cx="6811923" cy="22789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97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A362EE-6FA0-4CFE-AED6-9C13AA45DEA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358906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3027487" rtl="0" eaLnBrk="1" latinLnBrk="1" hangingPunct="1">
        <a:lnSpc>
          <a:spcPct val="90000"/>
        </a:lnSpc>
        <a:spcBef>
          <a:spcPct val="0"/>
        </a:spcBef>
        <a:buNone/>
        <a:defRPr sz="1456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756872" indent="-756872" algn="l" defTabSz="3027487" rtl="0" eaLnBrk="1" latinLnBrk="1" hangingPunct="1">
        <a:lnSpc>
          <a:spcPct val="90000"/>
        </a:lnSpc>
        <a:spcBef>
          <a:spcPts val="3311"/>
        </a:spcBef>
        <a:buFont typeface="Arial" panose="020B0604020202020204" pitchFamily="34" charset="0"/>
        <a:buChar char="•"/>
        <a:defRPr sz="9271" kern="1200">
          <a:solidFill>
            <a:schemeClr val="tx1"/>
          </a:solidFill>
          <a:latin typeface="+mn-lt"/>
          <a:ea typeface="+mn-ea"/>
          <a:cs typeface="+mn-cs"/>
        </a:defRPr>
      </a:lvl1pPr>
      <a:lvl2pPr marL="2270615" indent="-756872" algn="l" defTabSz="3027487" rtl="0" eaLnBrk="1" latinLnBrk="1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7946" kern="1200">
          <a:solidFill>
            <a:schemeClr val="tx1"/>
          </a:solidFill>
          <a:latin typeface="+mn-lt"/>
          <a:ea typeface="+mn-ea"/>
          <a:cs typeface="+mn-cs"/>
        </a:defRPr>
      </a:lvl2pPr>
      <a:lvl3pPr marL="3784359" indent="-756872" algn="l" defTabSz="3027487" rtl="0" eaLnBrk="1" latinLnBrk="1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6622" kern="1200">
          <a:solidFill>
            <a:schemeClr val="tx1"/>
          </a:solidFill>
          <a:latin typeface="+mn-lt"/>
          <a:ea typeface="+mn-ea"/>
          <a:cs typeface="+mn-cs"/>
        </a:defRPr>
      </a:lvl3pPr>
      <a:lvl4pPr marL="5298102" indent="-756872" algn="l" defTabSz="3027487" rtl="0" eaLnBrk="1" latinLnBrk="1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4pPr>
      <a:lvl5pPr marL="6811846" indent="-756872" algn="l" defTabSz="3027487" rtl="0" eaLnBrk="1" latinLnBrk="1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5pPr>
      <a:lvl6pPr marL="8325589" indent="-756872" algn="l" defTabSz="3027487" rtl="0" eaLnBrk="1" latinLnBrk="1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6pPr>
      <a:lvl7pPr marL="9839333" indent="-756872" algn="l" defTabSz="3027487" rtl="0" eaLnBrk="1" latinLnBrk="1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7pPr>
      <a:lvl8pPr marL="11353076" indent="-756872" algn="l" defTabSz="3027487" rtl="0" eaLnBrk="1" latinLnBrk="1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8pPr>
      <a:lvl9pPr marL="12866820" indent="-756872" algn="l" defTabSz="3027487" rtl="0" eaLnBrk="1" latinLnBrk="1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027487" rtl="0" eaLnBrk="1" latinLnBrk="1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1pPr>
      <a:lvl2pPr marL="1513743" algn="l" defTabSz="3027487" rtl="0" eaLnBrk="1" latinLnBrk="1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2pPr>
      <a:lvl3pPr marL="3027487" algn="l" defTabSz="3027487" rtl="0" eaLnBrk="1" latinLnBrk="1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3pPr>
      <a:lvl4pPr marL="4541230" algn="l" defTabSz="3027487" rtl="0" eaLnBrk="1" latinLnBrk="1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4pPr>
      <a:lvl5pPr marL="6054974" algn="l" defTabSz="3027487" rtl="0" eaLnBrk="1" latinLnBrk="1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5pPr>
      <a:lvl6pPr marL="7568717" algn="l" defTabSz="3027487" rtl="0" eaLnBrk="1" latinLnBrk="1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6pPr>
      <a:lvl7pPr marL="9082461" algn="l" defTabSz="3027487" rtl="0" eaLnBrk="1" latinLnBrk="1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7pPr>
      <a:lvl8pPr marL="10596204" algn="l" defTabSz="3027487" rtl="0" eaLnBrk="1" latinLnBrk="1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8pPr>
      <a:lvl9pPr marL="12109948" algn="l" defTabSz="3027487" rtl="0" eaLnBrk="1" latinLnBrk="1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그림 53">
            <a:extLst>
              <a:ext uri="{FF2B5EF4-FFF2-40B4-BE49-F238E27FC236}">
                <a16:creationId xmlns:a16="http://schemas.microsoft.com/office/drawing/2014/main" id="{07B282B5-A730-400B-BAEB-E3090C131D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2366" y="22946586"/>
            <a:ext cx="12992768" cy="2902099"/>
          </a:xfrm>
          <a:prstGeom prst="rect">
            <a:avLst/>
          </a:prstGeom>
        </p:spPr>
      </p:pic>
      <p:sp>
        <p:nvSpPr>
          <p:cNvPr id="96" name="Shape 11">
            <a:extLst>
              <a:ext uri="{FF2B5EF4-FFF2-40B4-BE49-F238E27FC236}">
                <a16:creationId xmlns:a16="http://schemas.microsoft.com/office/drawing/2014/main" id="{261CF0A4-9C3C-4ED0-816E-F50A860087CC}"/>
              </a:ext>
            </a:extLst>
          </p:cNvPr>
          <p:cNvSpPr/>
          <p:nvPr/>
        </p:nvSpPr>
        <p:spPr>
          <a:xfrm>
            <a:off x="15438149" y="35199750"/>
            <a:ext cx="4177552" cy="756924"/>
          </a:xfrm>
          <a:prstGeom prst="roundRect">
            <a:avLst>
              <a:gd name="adj" fmla="val 4848"/>
            </a:avLst>
          </a:prstGeom>
          <a:solidFill>
            <a:schemeClr val="accent1">
              <a:lumMod val="60000"/>
              <a:lumOff val="40000"/>
            </a:schemeClr>
          </a:solidFill>
          <a:ln w="10160">
            <a:solidFill>
              <a:srgbClr val="C8D5E8"/>
            </a:solidFill>
            <a:prstDash val="solid"/>
          </a:ln>
        </p:spPr>
      </p:sp>
      <p:sp>
        <p:nvSpPr>
          <p:cNvPr id="97" name="Text 12">
            <a:extLst>
              <a:ext uri="{FF2B5EF4-FFF2-40B4-BE49-F238E27FC236}">
                <a16:creationId xmlns:a16="http://schemas.microsoft.com/office/drawing/2014/main" id="{BA2A1785-BB79-4AE5-9854-708C4B6441A1}"/>
              </a:ext>
            </a:extLst>
          </p:cNvPr>
          <p:cNvSpPr/>
          <p:nvPr/>
        </p:nvSpPr>
        <p:spPr>
          <a:xfrm>
            <a:off x="15411884" y="35277642"/>
            <a:ext cx="4197960" cy="57222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95000"/>
              </a:lnSpc>
              <a:buNone/>
            </a:pPr>
            <a:r>
              <a:rPr lang="ko-KR" altLang="en-US" sz="3100" b="1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개인</a:t>
            </a:r>
            <a:endParaRPr lang="en-US" sz="3100" dirty="0">
              <a:solidFill>
                <a:schemeClr val="bg1"/>
              </a:solidFill>
            </a:endParaRPr>
          </a:p>
        </p:txBody>
      </p:sp>
      <p:sp>
        <p:nvSpPr>
          <p:cNvPr id="99" name="Text 13">
            <a:extLst>
              <a:ext uri="{FF2B5EF4-FFF2-40B4-BE49-F238E27FC236}">
                <a16:creationId xmlns:a16="http://schemas.microsoft.com/office/drawing/2014/main" id="{63299729-AE85-458A-AFAB-EBA2C4DCC6A3}"/>
              </a:ext>
            </a:extLst>
          </p:cNvPr>
          <p:cNvSpPr/>
          <p:nvPr/>
        </p:nvSpPr>
        <p:spPr>
          <a:xfrm>
            <a:off x="15465136" y="35927756"/>
            <a:ext cx="4144707" cy="599703"/>
          </a:xfrm>
          <a:prstGeom prst="rect">
            <a:avLst/>
          </a:prstGeom>
          <a:noFill/>
          <a:ln>
            <a:solidFill>
              <a:schemeClr val="bg2">
                <a:lumMod val="90000"/>
              </a:schemeClr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95000"/>
              </a:lnSpc>
              <a:buNone/>
            </a:pPr>
            <a:r>
              <a:rPr lang="ko-KR" altLang="en-US" sz="2400" dirty="0" err="1">
                <a:solidFill>
                  <a:srgbClr val="8FAA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오탐</a:t>
            </a:r>
            <a:r>
              <a:rPr lang="ko-KR" altLang="en-US" sz="2400" dirty="0">
                <a:solidFill>
                  <a:srgbClr val="8FAA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감소</a:t>
            </a:r>
            <a:r>
              <a:rPr lang="en-US" altLang="ko-KR" sz="2400" dirty="0">
                <a:solidFill>
                  <a:srgbClr val="8FAA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2400" dirty="0">
                <a:solidFill>
                  <a:srgbClr val="8FAA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독립 생활 지원</a:t>
            </a:r>
          </a:p>
        </p:txBody>
      </p:sp>
      <p:sp>
        <p:nvSpPr>
          <p:cNvPr id="104" name="Shape 14">
            <a:extLst>
              <a:ext uri="{FF2B5EF4-FFF2-40B4-BE49-F238E27FC236}">
                <a16:creationId xmlns:a16="http://schemas.microsoft.com/office/drawing/2014/main" id="{76CB5BA0-70B3-48A7-BD3A-A1D13241FC89}"/>
              </a:ext>
            </a:extLst>
          </p:cNvPr>
          <p:cNvSpPr/>
          <p:nvPr/>
        </p:nvSpPr>
        <p:spPr>
          <a:xfrm>
            <a:off x="20022041" y="35199750"/>
            <a:ext cx="4749217" cy="741746"/>
          </a:xfrm>
          <a:prstGeom prst="roundRect">
            <a:avLst>
              <a:gd name="adj" fmla="val 4848"/>
            </a:avLst>
          </a:prstGeom>
          <a:solidFill>
            <a:srgbClr val="8FAADC"/>
          </a:solidFill>
          <a:ln w="10160">
            <a:solidFill>
              <a:srgbClr val="C8D5E8"/>
            </a:solidFill>
            <a:prstDash val="solid"/>
          </a:ln>
        </p:spPr>
      </p:sp>
      <p:sp>
        <p:nvSpPr>
          <p:cNvPr id="109" name="Text 15">
            <a:extLst>
              <a:ext uri="{FF2B5EF4-FFF2-40B4-BE49-F238E27FC236}">
                <a16:creationId xmlns:a16="http://schemas.microsoft.com/office/drawing/2014/main" id="{E4CFA3AF-0BA4-45AF-8DCD-16E2AB6C0237}"/>
              </a:ext>
            </a:extLst>
          </p:cNvPr>
          <p:cNvSpPr/>
          <p:nvPr/>
        </p:nvSpPr>
        <p:spPr>
          <a:xfrm>
            <a:off x="20059804" y="35261958"/>
            <a:ext cx="4685189" cy="71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95000"/>
              </a:lnSpc>
              <a:buNone/>
            </a:pPr>
            <a:r>
              <a:rPr lang="ko-KR" altLang="en-US" sz="3100" b="1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사회</a:t>
            </a:r>
            <a:endParaRPr lang="en-US" sz="3100" dirty="0">
              <a:solidFill>
                <a:schemeClr val="bg1"/>
              </a:solidFill>
            </a:endParaRPr>
          </a:p>
        </p:txBody>
      </p:sp>
      <p:sp>
        <p:nvSpPr>
          <p:cNvPr id="110" name="Text 16">
            <a:extLst>
              <a:ext uri="{FF2B5EF4-FFF2-40B4-BE49-F238E27FC236}">
                <a16:creationId xmlns:a16="http://schemas.microsoft.com/office/drawing/2014/main" id="{B4A80A27-A818-4B3A-8157-8D2E76B3F383}"/>
              </a:ext>
            </a:extLst>
          </p:cNvPr>
          <p:cNvSpPr/>
          <p:nvPr/>
        </p:nvSpPr>
        <p:spPr>
          <a:xfrm>
            <a:off x="20065661" y="35941496"/>
            <a:ext cx="4701962" cy="585963"/>
          </a:xfrm>
          <a:prstGeom prst="rect">
            <a:avLst/>
          </a:prstGeom>
          <a:noFill/>
          <a:ln>
            <a:solidFill>
              <a:schemeClr val="bg2">
                <a:lumMod val="90000"/>
              </a:schemeClr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95000"/>
              </a:lnSpc>
              <a:buNone/>
            </a:pPr>
            <a:r>
              <a:rPr lang="ko-KR" altLang="en-US" sz="2400" dirty="0">
                <a:solidFill>
                  <a:srgbClr val="8FAA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가족 부담 절감</a:t>
            </a:r>
          </a:p>
        </p:txBody>
      </p:sp>
      <p:sp>
        <p:nvSpPr>
          <p:cNvPr id="112" name="Shape 17">
            <a:extLst>
              <a:ext uri="{FF2B5EF4-FFF2-40B4-BE49-F238E27FC236}">
                <a16:creationId xmlns:a16="http://schemas.microsoft.com/office/drawing/2014/main" id="{FF04D6AD-F4B6-4C74-81AD-79A977B98324}"/>
              </a:ext>
            </a:extLst>
          </p:cNvPr>
          <p:cNvSpPr/>
          <p:nvPr/>
        </p:nvSpPr>
        <p:spPr>
          <a:xfrm>
            <a:off x="25151413" y="35199750"/>
            <a:ext cx="4089604" cy="741746"/>
          </a:xfrm>
          <a:prstGeom prst="roundRect">
            <a:avLst>
              <a:gd name="adj" fmla="val 4848"/>
            </a:avLst>
          </a:prstGeom>
          <a:solidFill>
            <a:srgbClr val="8FAADC"/>
          </a:solidFill>
          <a:ln w="10160">
            <a:solidFill>
              <a:srgbClr val="C8D5E8"/>
            </a:solidFill>
            <a:prstDash val="solid"/>
          </a:ln>
        </p:spPr>
      </p:sp>
      <p:sp>
        <p:nvSpPr>
          <p:cNvPr id="113" name="Text 18">
            <a:extLst>
              <a:ext uri="{FF2B5EF4-FFF2-40B4-BE49-F238E27FC236}">
                <a16:creationId xmlns:a16="http://schemas.microsoft.com/office/drawing/2014/main" id="{C72D917B-9921-45B4-90F2-3614722F4241}"/>
              </a:ext>
            </a:extLst>
          </p:cNvPr>
          <p:cNvSpPr/>
          <p:nvPr/>
        </p:nvSpPr>
        <p:spPr>
          <a:xfrm>
            <a:off x="25110758" y="35300502"/>
            <a:ext cx="4160520" cy="66385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95000"/>
              </a:lnSpc>
              <a:buNone/>
            </a:pPr>
            <a:r>
              <a:rPr lang="ko-KR" altLang="en-US" sz="3100" b="1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기술</a:t>
            </a:r>
            <a:endParaRPr lang="en-US" sz="3100" dirty="0">
              <a:solidFill>
                <a:schemeClr val="bg1"/>
              </a:solidFill>
            </a:endParaRPr>
          </a:p>
        </p:txBody>
      </p:sp>
      <p:sp>
        <p:nvSpPr>
          <p:cNvPr id="115" name="Text 19">
            <a:extLst>
              <a:ext uri="{FF2B5EF4-FFF2-40B4-BE49-F238E27FC236}">
                <a16:creationId xmlns:a16="http://schemas.microsoft.com/office/drawing/2014/main" id="{97B07D8D-752F-433B-A6DF-3C14F04054CF}"/>
              </a:ext>
            </a:extLst>
          </p:cNvPr>
          <p:cNvSpPr/>
          <p:nvPr/>
        </p:nvSpPr>
        <p:spPr>
          <a:xfrm>
            <a:off x="25181747" y="35964356"/>
            <a:ext cx="4089183" cy="579431"/>
          </a:xfrm>
          <a:prstGeom prst="rect">
            <a:avLst/>
          </a:prstGeom>
          <a:noFill/>
          <a:ln>
            <a:solidFill>
              <a:schemeClr val="bg2">
                <a:lumMod val="90000"/>
              </a:schemeClr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altLang="ko-KR" sz="2400" dirty="0">
                <a:solidFill>
                  <a:srgbClr val="8FAA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Edge </a:t>
            </a:r>
            <a:r>
              <a:rPr lang="ko-KR" altLang="en-US" sz="2400" dirty="0">
                <a:solidFill>
                  <a:srgbClr val="8FAA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처리</a:t>
            </a:r>
            <a:r>
              <a:rPr lang="en-US" altLang="ko-KR" sz="2400" dirty="0">
                <a:solidFill>
                  <a:srgbClr val="8FAA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2400" dirty="0">
                <a:solidFill>
                  <a:srgbClr val="8FAA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개인정보 보호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648147F4-0413-4384-9636-6677CC6C8577}"/>
              </a:ext>
            </a:extLst>
          </p:cNvPr>
          <p:cNvSpPr/>
          <p:nvPr/>
        </p:nvSpPr>
        <p:spPr>
          <a:xfrm>
            <a:off x="431800" y="533400"/>
            <a:ext cx="29438600" cy="615923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600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Edge AI-Based Real-Time Fall Detection</a:t>
            </a:r>
          </a:p>
          <a:p>
            <a:pPr algn="ctr"/>
            <a:r>
              <a:rPr lang="en-US" altLang="ko-KR" sz="6600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and Alert System for Elderly People Living Alone</a:t>
            </a:r>
            <a:endParaRPr lang="en-US" altLang="ko-KR" sz="2000" dirty="0">
              <a:solidFill>
                <a:schemeClr val="tx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algn="ctr"/>
            <a:r>
              <a:rPr lang="en-US" altLang="ko-KR" sz="4800" dirty="0" err="1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Abbos</a:t>
            </a:r>
            <a:r>
              <a:rPr lang="en-US" altLang="ko-KR" sz="4800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Aliboev</a:t>
            </a:r>
            <a:r>
              <a:rPr lang="en-US" altLang="ko-KR" sz="4800" baseline="30000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1</a:t>
            </a:r>
            <a:r>
              <a:rPr lang="en-US" altLang="ko-KR" sz="4800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, </a:t>
            </a:r>
            <a:r>
              <a:rPr lang="en-US" altLang="ko-KR" sz="4800" dirty="0" err="1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Damin</a:t>
            </a:r>
            <a:r>
              <a:rPr lang="en-US" altLang="ko-KR" sz="4800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Kim</a:t>
            </a:r>
            <a:r>
              <a:rPr lang="en-US" altLang="ko-KR" sz="4800" baseline="30000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1</a:t>
            </a:r>
            <a:r>
              <a:rPr lang="en-US" altLang="ko-KR" sz="4800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, </a:t>
            </a:r>
            <a:r>
              <a:rPr lang="en-US" altLang="ko-KR" sz="4800" dirty="0" err="1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Jonghyuk</a:t>
            </a:r>
            <a:r>
              <a:rPr lang="en-US" altLang="ko-KR" sz="4800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Park</a:t>
            </a:r>
            <a:r>
              <a:rPr lang="en-US" altLang="ko-KR" sz="4800" baseline="30000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1</a:t>
            </a:r>
            <a:r>
              <a:rPr lang="en-US" altLang="ko-KR" sz="4800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, and </a:t>
            </a:r>
            <a:r>
              <a:rPr lang="en-US" altLang="ko-KR" sz="4800" dirty="0" err="1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Seongwoo</a:t>
            </a:r>
            <a:r>
              <a:rPr lang="en-US" altLang="ko-KR" sz="4800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Cho</a:t>
            </a:r>
            <a:r>
              <a:rPr lang="en-US" altLang="ko-KR" sz="4800" baseline="30000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2</a:t>
            </a:r>
          </a:p>
          <a:p>
            <a:pPr algn="ctr"/>
            <a:r>
              <a:rPr lang="en-US" altLang="ko-KR" sz="4000" dirty="0" err="1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Chungbuk</a:t>
            </a:r>
            <a:r>
              <a:rPr lang="en-US" altLang="ko-KR" sz="4000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National University</a:t>
            </a:r>
            <a:r>
              <a:rPr lang="en-US" altLang="ko-KR" sz="4000" baseline="30000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1</a:t>
            </a:r>
          </a:p>
          <a:p>
            <a:pPr algn="ctr"/>
            <a:r>
              <a:rPr lang="en-US" altLang="ko-KR" sz="4000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Inje University</a:t>
            </a:r>
            <a:r>
              <a:rPr lang="en-US" altLang="ko-KR" sz="4000" baseline="30000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2</a:t>
            </a:r>
          </a:p>
          <a:p>
            <a:pPr algn="ctr"/>
            <a:endParaRPr lang="en-US" altLang="ko-KR" sz="2000" dirty="0">
              <a:solidFill>
                <a:schemeClr val="tx1"/>
              </a:solidFill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B5622147-515C-4E4C-8C5E-BA1455760916}"/>
              </a:ext>
            </a:extLst>
          </p:cNvPr>
          <p:cNvSpPr/>
          <p:nvPr/>
        </p:nvSpPr>
        <p:spPr>
          <a:xfrm>
            <a:off x="431800" y="6934200"/>
            <a:ext cx="29438600" cy="33502600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8" name="그림 7" descr="폰트, 그래픽, 로고, 텍스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EDD6A1D-536D-B1A2-6E39-D0FCBEA5092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5000" y="41016231"/>
            <a:ext cx="3720624" cy="1053820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F41601CF-8833-7AF8-4049-0458BCD694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697856" y="40975564"/>
            <a:ext cx="4243379" cy="1135154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A02F71C7-E2FD-DEE1-3DF3-DCCA44C6AD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9013" y="912321"/>
            <a:ext cx="4700588" cy="9871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 8"/>
          <p:cNvSpPr/>
          <p:nvPr/>
        </p:nvSpPr>
        <p:spPr>
          <a:xfrm>
            <a:off x="962026" y="7434309"/>
            <a:ext cx="1389402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73E78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1. 연구 배경</a:t>
            </a:r>
            <a:endParaRPr lang="en-US" sz="30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962026" y="8037813"/>
            <a:ext cx="13894022" cy="0"/>
          </a:xfrm>
          <a:prstGeom prst="line">
            <a:avLst/>
          </a:prstGeom>
          <a:noFill/>
          <a:ln w="13970">
            <a:solidFill>
              <a:srgbClr val="173E7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007746" y="8302989"/>
            <a:ext cx="13802582" cy="16002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200" dirty="0">
                <a:solidFill>
                  <a:srgbClr val="30303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• 독거노인은 낙상 후 즉각 대응이 어려움</a:t>
            </a:r>
            <a:endParaRPr lang="en-US" sz="3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0" indent="0" algn="l">
              <a:lnSpc>
                <a:spcPct val="90000"/>
              </a:lnSpc>
              <a:buNone/>
            </a:pPr>
            <a:r>
              <a:rPr lang="en-US" sz="3200" dirty="0">
                <a:solidFill>
                  <a:srgbClr val="30303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• 웨어러블은 착용 거부·충전 부담으로 지속 사용 한계</a:t>
            </a:r>
            <a:endParaRPr lang="en-US" sz="3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0" indent="0" algn="l">
              <a:lnSpc>
                <a:spcPct val="90000"/>
              </a:lnSpc>
              <a:buNone/>
            </a:pPr>
            <a:r>
              <a:rPr lang="en-US" sz="3200" dirty="0">
                <a:solidFill>
                  <a:srgbClr val="30303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• 카메라 기반 비접촉 모니터링이 현실적인 대안</a:t>
            </a:r>
            <a:endParaRPr lang="en-US" sz="3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6" name="Shape 11"/>
          <p:cNvSpPr/>
          <p:nvPr/>
        </p:nvSpPr>
        <p:spPr>
          <a:xfrm>
            <a:off x="962026" y="10266664"/>
            <a:ext cx="4177552" cy="756924"/>
          </a:xfrm>
          <a:prstGeom prst="roundRect">
            <a:avLst>
              <a:gd name="adj" fmla="val 4848"/>
            </a:avLst>
          </a:prstGeom>
          <a:solidFill>
            <a:schemeClr val="accent1">
              <a:lumMod val="60000"/>
              <a:lumOff val="40000"/>
            </a:schemeClr>
          </a:solidFill>
          <a:ln w="10160">
            <a:solidFill>
              <a:srgbClr val="C8D5E8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935761" y="10344556"/>
            <a:ext cx="4197960" cy="57222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3100" b="1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20 %</a:t>
            </a:r>
            <a:endParaRPr lang="en-US" sz="3100" dirty="0">
              <a:solidFill>
                <a:schemeClr val="bg1"/>
              </a:solidFill>
            </a:endParaRPr>
          </a:p>
        </p:txBody>
      </p:sp>
      <p:sp>
        <p:nvSpPr>
          <p:cNvPr id="18" name="Text 13"/>
          <p:cNvSpPr/>
          <p:nvPr/>
        </p:nvSpPr>
        <p:spPr>
          <a:xfrm>
            <a:off x="989013" y="10994670"/>
            <a:ext cx="4144707" cy="599703"/>
          </a:xfrm>
          <a:prstGeom prst="rect">
            <a:avLst/>
          </a:prstGeom>
          <a:noFill/>
          <a:ln>
            <a:solidFill>
              <a:schemeClr val="bg2">
                <a:lumMod val="90000"/>
              </a:schemeClr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2400" dirty="0">
                <a:solidFill>
                  <a:srgbClr val="8FAA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65세 이상 낙상 발생률</a:t>
            </a:r>
            <a:endParaRPr lang="en-US" sz="2400" dirty="0">
              <a:solidFill>
                <a:srgbClr val="8FAADC"/>
              </a:solidFill>
            </a:endParaRPr>
          </a:p>
        </p:txBody>
      </p:sp>
      <p:sp>
        <p:nvSpPr>
          <p:cNvPr id="19" name="Shape 14"/>
          <p:cNvSpPr/>
          <p:nvPr/>
        </p:nvSpPr>
        <p:spPr>
          <a:xfrm>
            <a:off x="5545918" y="10266664"/>
            <a:ext cx="4749217" cy="741746"/>
          </a:xfrm>
          <a:prstGeom prst="roundRect">
            <a:avLst>
              <a:gd name="adj" fmla="val 4848"/>
            </a:avLst>
          </a:prstGeom>
          <a:solidFill>
            <a:srgbClr val="8FAADC"/>
          </a:solidFill>
          <a:ln w="10160">
            <a:solidFill>
              <a:srgbClr val="C8D5E8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5583681" y="10328872"/>
            <a:ext cx="4685189" cy="71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3100" b="1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1시간→3초</a:t>
            </a:r>
            <a:endParaRPr lang="en-US" sz="3100" dirty="0">
              <a:solidFill>
                <a:schemeClr val="bg1"/>
              </a:solidFill>
            </a:endParaRPr>
          </a:p>
        </p:txBody>
      </p:sp>
      <p:sp>
        <p:nvSpPr>
          <p:cNvPr id="21" name="Text 16"/>
          <p:cNvSpPr/>
          <p:nvPr/>
        </p:nvSpPr>
        <p:spPr>
          <a:xfrm>
            <a:off x="5589538" y="11008410"/>
            <a:ext cx="4701962" cy="585963"/>
          </a:xfrm>
          <a:prstGeom prst="rect">
            <a:avLst/>
          </a:prstGeom>
          <a:noFill/>
          <a:ln>
            <a:solidFill>
              <a:schemeClr val="bg2">
                <a:lumMod val="90000"/>
              </a:schemeClr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2400" dirty="0">
                <a:solidFill>
                  <a:srgbClr val="8FAA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발견 시간 단축 목표</a:t>
            </a:r>
            <a:endParaRPr lang="en-US" sz="2400" dirty="0">
              <a:solidFill>
                <a:srgbClr val="8FAADC"/>
              </a:solidFill>
            </a:endParaRPr>
          </a:p>
        </p:txBody>
      </p:sp>
      <p:sp>
        <p:nvSpPr>
          <p:cNvPr id="24" name="Shape 17"/>
          <p:cNvSpPr/>
          <p:nvPr/>
        </p:nvSpPr>
        <p:spPr>
          <a:xfrm>
            <a:off x="10675290" y="10266664"/>
            <a:ext cx="4089604" cy="741746"/>
          </a:xfrm>
          <a:prstGeom prst="roundRect">
            <a:avLst>
              <a:gd name="adj" fmla="val 4848"/>
            </a:avLst>
          </a:prstGeom>
          <a:solidFill>
            <a:srgbClr val="8FAADC"/>
          </a:solidFill>
          <a:ln w="10160">
            <a:solidFill>
              <a:srgbClr val="C8D5E8"/>
            </a:solidFill>
            <a:prstDash val="solid"/>
          </a:ln>
        </p:spPr>
      </p:sp>
      <p:sp>
        <p:nvSpPr>
          <p:cNvPr id="25" name="Text 18"/>
          <p:cNvSpPr/>
          <p:nvPr/>
        </p:nvSpPr>
        <p:spPr>
          <a:xfrm>
            <a:off x="10634635" y="10367416"/>
            <a:ext cx="4160520" cy="66385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3100" b="1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비접촉</a:t>
            </a:r>
            <a:endParaRPr lang="en-US" sz="3100" dirty="0">
              <a:solidFill>
                <a:schemeClr val="bg1"/>
              </a:solidFill>
            </a:endParaRPr>
          </a:p>
        </p:txBody>
      </p:sp>
      <p:sp>
        <p:nvSpPr>
          <p:cNvPr id="26" name="Text 19"/>
          <p:cNvSpPr/>
          <p:nvPr/>
        </p:nvSpPr>
        <p:spPr>
          <a:xfrm>
            <a:off x="10705624" y="11031270"/>
            <a:ext cx="4089183" cy="579431"/>
          </a:xfrm>
          <a:prstGeom prst="rect">
            <a:avLst/>
          </a:prstGeom>
          <a:noFill/>
          <a:ln>
            <a:solidFill>
              <a:schemeClr val="bg2">
                <a:lumMod val="90000"/>
              </a:schemeClr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2400" dirty="0">
                <a:solidFill>
                  <a:srgbClr val="8FAA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웨어러블 불필요</a:t>
            </a:r>
            <a:endParaRPr lang="en-US" sz="2400" dirty="0">
              <a:solidFill>
                <a:srgbClr val="8FAADC"/>
              </a:solidFill>
            </a:endParaRPr>
          </a:p>
        </p:txBody>
      </p:sp>
      <p:sp>
        <p:nvSpPr>
          <p:cNvPr id="27" name="Text 20"/>
          <p:cNvSpPr/>
          <p:nvPr/>
        </p:nvSpPr>
        <p:spPr>
          <a:xfrm>
            <a:off x="962026" y="12417789"/>
            <a:ext cx="1389402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73E78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2. MobiCare 서비스 개요</a:t>
            </a:r>
            <a:endParaRPr lang="en-US" sz="30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28" name="Shape 21"/>
          <p:cNvSpPr/>
          <p:nvPr/>
        </p:nvSpPr>
        <p:spPr>
          <a:xfrm>
            <a:off x="962026" y="13021293"/>
            <a:ext cx="13894022" cy="0"/>
          </a:xfrm>
          <a:prstGeom prst="line">
            <a:avLst/>
          </a:prstGeom>
          <a:noFill/>
          <a:ln w="13970">
            <a:solidFill>
              <a:srgbClr val="173E78"/>
            </a:solidFill>
            <a:prstDash val="solid"/>
          </a:ln>
        </p:spPr>
      </p:sp>
      <p:sp>
        <p:nvSpPr>
          <p:cNvPr id="29" name="Text 22"/>
          <p:cNvSpPr/>
          <p:nvPr/>
        </p:nvSpPr>
        <p:spPr>
          <a:xfrm>
            <a:off x="1007746" y="13286469"/>
            <a:ext cx="13802582" cy="9601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200" dirty="0">
                <a:solidFill>
                  <a:srgbClr val="30303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• 일반 카메라와 Edge AI로 실내 움직임을 실시간 분석</a:t>
            </a:r>
            <a:endParaRPr lang="en-US" sz="3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0" indent="0" algn="l">
              <a:lnSpc>
                <a:spcPct val="90000"/>
              </a:lnSpc>
              <a:buNone/>
            </a:pPr>
            <a:r>
              <a:rPr lang="en-US" sz="3200" dirty="0">
                <a:solidFill>
                  <a:srgbClr val="30303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• 낙상 위험 감지 → 즉시 알림 → </a:t>
            </a:r>
            <a:r>
              <a:rPr lang="ko-KR" altLang="en-US" sz="3200" dirty="0">
                <a:solidFill>
                  <a:srgbClr val="30303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로그 </a:t>
            </a:r>
            <a:r>
              <a:rPr lang="en-US" sz="3200" dirty="0" err="1">
                <a:solidFill>
                  <a:srgbClr val="30303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관리까지</a:t>
            </a:r>
            <a:r>
              <a:rPr lang="en-US" sz="3200" dirty="0">
                <a:solidFill>
                  <a:srgbClr val="30303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하나의 흐름으로 연결</a:t>
            </a:r>
            <a:endParaRPr lang="en-US" sz="3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3" name="Text 25"/>
          <p:cNvSpPr/>
          <p:nvPr/>
        </p:nvSpPr>
        <p:spPr>
          <a:xfrm>
            <a:off x="962026" y="29715057"/>
            <a:ext cx="1389402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73E78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4. 시스템 흐름</a:t>
            </a:r>
            <a:endParaRPr lang="en-US" sz="30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34" name="Shape 26"/>
          <p:cNvSpPr/>
          <p:nvPr/>
        </p:nvSpPr>
        <p:spPr>
          <a:xfrm>
            <a:off x="962026" y="30318561"/>
            <a:ext cx="13894022" cy="0"/>
          </a:xfrm>
          <a:prstGeom prst="line">
            <a:avLst/>
          </a:prstGeom>
          <a:noFill/>
          <a:ln w="13970">
            <a:solidFill>
              <a:srgbClr val="173E78"/>
            </a:solidFill>
            <a:prstDash val="solid"/>
          </a:ln>
        </p:spPr>
      </p:sp>
      <p:sp>
        <p:nvSpPr>
          <p:cNvPr id="35" name="Shape 27"/>
          <p:cNvSpPr/>
          <p:nvPr/>
        </p:nvSpPr>
        <p:spPr>
          <a:xfrm>
            <a:off x="804487" y="30598845"/>
            <a:ext cx="2560320" cy="1143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1430">
            <a:solidFill>
              <a:srgbClr val="173E78"/>
            </a:solidFill>
            <a:prstDash val="solid"/>
          </a:ln>
        </p:spPr>
      </p:sp>
      <p:sp>
        <p:nvSpPr>
          <p:cNvPr id="36" name="Text 28"/>
          <p:cNvSpPr/>
          <p:nvPr/>
        </p:nvSpPr>
        <p:spPr>
          <a:xfrm>
            <a:off x="859351" y="30699429"/>
            <a:ext cx="2450592" cy="99669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lnSpc>
                <a:spcPct val="88000"/>
              </a:lnSpc>
              <a:buNone/>
            </a:pPr>
            <a:r>
              <a:rPr lang="en-US" sz="24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Camera</a:t>
            </a:r>
            <a:endParaRPr lang="en-US" sz="2400" dirty="0"/>
          </a:p>
          <a:p>
            <a:pPr marL="0" indent="0" algn="ctr">
              <a:lnSpc>
                <a:spcPct val="88000"/>
              </a:lnSpc>
              <a:buNone/>
            </a:pPr>
            <a:r>
              <a:rPr lang="en-US" sz="24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영상 입력</a:t>
            </a:r>
            <a:endParaRPr lang="en-US" sz="2400" dirty="0"/>
          </a:p>
        </p:txBody>
      </p:sp>
      <p:sp>
        <p:nvSpPr>
          <p:cNvPr id="37" name="Shape 29"/>
          <p:cNvSpPr/>
          <p:nvPr/>
        </p:nvSpPr>
        <p:spPr>
          <a:xfrm>
            <a:off x="3410527" y="31170345"/>
            <a:ext cx="219456" cy="0"/>
          </a:xfrm>
          <a:prstGeom prst="line">
            <a:avLst/>
          </a:prstGeom>
          <a:noFill/>
          <a:ln w="12700">
            <a:solidFill>
              <a:srgbClr val="173E78"/>
            </a:solidFill>
            <a:prstDash val="solid"/>
            <a:tailEnd type="triangle"/>
          </a:ln>
        </p:spPr>
      </p:sp>
      <p:sp>
        <p:nvSpPr>
          <p:cNvPr id="38" name="Shape 30"/>
          <p:cNvSpPr/>
          <p:nvPr/>
        </p:nvSpPr>
        <p:spPr>
          <a:xfrm>
            <a:off x="3675703" y="30598845"/>
            <a:ext cx="2560320" cy="1143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1430">
            <a:solidFill>
              <a:srgbClr val="173E78"/>
            </a:solidFill>
            <a:prstDash val="solid"/>
          </a:ln>
        </p:spPr>
      </p:sp>
      <p:sp>
        <p:nvSpPr>
          <p:cNvPr id="39" name="Text 31"/>
          <p:cNvSpPr/>
          <p:nvPr/>
        </p:nvSpPr>
        <p:spPr>
          <a:xfrm>
            <a:off x="3730567" y="30699429"/>
            <a:ext cx="2450592" cy="99669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lnSpc>
                <a:spcPct val="88000"/>
              </a:lnSpc>
              <a:buNone/>
            </a:pPr>
            <a:r>
              <a:rPr lang="en-US" sz="24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YOLOv11</a:t>
            </a:r>
            <a:endParaRPr lang="en-US" sz="2400" dirty="0"/>
          </a:p>
          <a:p>
            <a:pPr marL="0" indent="0" algn="ctr">
              <a:lnSpc>
                <a:spcPct val="88000"/>
              </a:lnSpc>
              <a:buNone/>
            </a:pPr>
            <a:r>
              <a:rPr lang="en-US" sz="24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Pose</a:t>
            </a:r>
            <a:endParaRPr lang="en-US" sz="2400" dirty="0"/>
          </a:p>
        </p:txBody>
      </p:sp>
      <p:sp>
        <p:nvSpPr>
          <p:cNvPr id="40" name="Shape 32"/>
          <p:cNvSpPr/>
          <p:nvPr/>
        </p:nvSpPr>
        <p:spPr>
          <a:xfrm>
            <a:off x="6281743" y="31170345"/>
            <a:ext cx="219456" cy="0"/>
          </a:xfrm>
          <a:prstGeom prst="line">
            <a:avLst/>
          </a:prstGeom>
          <a:noFill/>
          <a:ln w="12700">
            <a:solidFill>
              <a:srgbClr val="173E78"/>
            </a:solidFill>
            <a:prstDash val="solid"/>
            <a:tailEnd type="triangle"/>
          </a:ln>
        </p:spPr>
      </p:sp>
      <p:sp>
        <p:nvSpPr>
          <p:cNvPr id="41" name="Shape 33"/>
          <p:cNvSpPr/>
          <p:nvPr/>
        </p:nvSpPr>
        <p:spPr>
          <a:xfrm>
            <a:off x="6546919" y="30598845"/>
            <a:ext cx="2560320" cy="1143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1430">
            <a:solidFill>
              <a:srgbClr val="173E78"/>
            </a:solidFill>
            <a:prstDash val="solid"/>
          </a:ln>
        </p:spPr>
      </p:sp>
      <p:sp>
        <p:nvSpPr>
          <p:cNvPr id="42" name="Text 34"/>
          <p:cNvSpPr/>
          <p:nvPr/>
        </p:nvSpPr>
        <p:spPr>
          <a:xfrm>
            <a:off x="6601783" y="30699429"/>
            <a:ext cx="2450592" cy="99669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lnSpc>
                <a:spcPct val="88000"/>
              </a:lnSpc>
              <a:buNone/>
            </a:pPr>
            <a:r>
              <a:rPr lang="en-US" sz="24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ST-GCN</a:t>
            </a:r>
            <a:endParaRPr lang="en-US" sz="2400" dirty="0"/>
          </a:p>
          <a:p>
            <a:pPr marL="0" indent="0" algn="ctr">
              <a:lnSpc>
                <a:spcPct val="88000"/>
              </a:lnSpc>
              <a:buNone/>
            </a:pPr>
            <a:r>
              <a:rPr lang="en-US" sz="24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확률 예측</a:t>
            </a:r>
            <a:endParaRPr lang="en-US" sz="2400" dirty="0"/>
          </a:p>
        </p:txBody>
      </p:sp>
      <p:sp>
        <p:nvSpPr>
          <p:cNvPr id="43" name="Shape 35"/>
          <p:cNvSpPr/>
          <p:nvPr/>
        </p:nvSpPr>
        <p:spPr>
          <a:xfrm>
            <a:off x="9152959" y="31170345"/>
            <a:ext cx="219456" cy="0"/>
          </a:xfrm>
          <a:prstGeom prst="line">
            <a:avLst/>
          </a:prstGeom>
          <a:noFill/>
          <a:ln w="12700">
            <a:solidFill>
              <a:srgbClr val="173E78"/>
            </a:solidFill>
            <a:prstDash val="solid"/>
            <a:tailEnd type="triangle"/>
          </a:ln>
        </p:spPr>
      </p:sp>
      <p:sp>
        <p:nvSpPr>
          <p:cNvPr id="44" name="Shape 36"/>
          <p:cNvSpPr/>
          <p:nvPr/>
        </p:nvSpPr>
        <p:spPr>
          <a:xfrm>
            <a:off x="9418135" y="30598845"/>
            <a:ext cx="2560320" cy="1143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1430">
            <a:solidFill>
              <a:srgbClr val="173E78"/>
            </a:solidFill>
            <a:prstDash val="solid"/>
          </a:ln>
        </p:spPr>
      </p:sp>
      <p:sp>
        <p:nvSpPr>
          <p:cNvPr id="45" name="Text 37"/>
          <p:cNvSpPr/>
          <p:nvPr/>
        </p:nvSpPr>
        <p:spPr>
          <a:xfrm>
            <a:off x="9472999" y="30699429"/>
            <a:ext cx="2450592" cy="99669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lnSpc>
                <a:spcPct val="88000"/>
              </a:lnSpc>
              <a:buNone/>
            </a:pPr>
            <a:r>
              <a:rPr lang="en-US" sz="24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Physics</a:t>
            </a:r>
            <a:endParaRPr lang="en-US" sz="2400" dirty="0"/>
          </a:p>
          <a:p>
            <a:pPr marL="0" indent="0" algn="ctr">
              <a:lnSpc>
                <a:spcPct val="88000"/>
              </a:lnSpc>
              <a:buNone/>
            </a:pPr>
            <a:r>
              <a:rPr lang="en-US" sz="24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Rescue</a:t>
            </a:r>
            <a:endParaRPr lang="en-US" sz="2400" dirty="0"/>
          </a:p>
        </p:txBody>
      </p:sp>
      <p:sp>
        <p:nvSpPr>
          <p:cNvPr id="46" name="Shape 38"/>
          <p:cNvSpPr/>
          <p:nvPr/>
        </p:nvSpPr>
        <p:spPr>
          <a:xfrm>
            <a:off x="12024175" y="31170345"/>
            <a:ext cx="219456" cy="0"/>
          </a:xfrm>
          <a:prstGeom prst="line">
            <a:avLst/>
          </a:prstGeom>
          <a:noFill/>
          <a:ln w="12700">
            <a:solidFill>
              <a:srgbClr val="173E78"/>
            </a:solidFill>
            <a:prstDash val="solid"/>
            <a:tailEnd type="triangle"/>
          </a:ln>
        </p:spPr>
      </p:sp>
      <p:sp>
        <p:nvSpPr>
          <p:cNvPr id="47" name="Shape 39"/>
          <p:cNvSpPr/>
          <p:nvPr/>
        </p:nvSpPr>
        <p:spPr>
          <a:xfrm>
            <a:off x="12289351" y="30598845"/>
            <a:ext cx="2560320" cy="1143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1430">
            <a:solidFill>
              <a:srgbClr val="173E78"/>
            </a:solidFill>
            <a:prstDash val="solid"/>
          </a:ln>
        </p:spPr>
      </p:sp>
      <p:sp>
        <p:nvSpPr>
          <p:cNvPr id="48" name="Text 40"/>
          <p:cNvSpPr/>
          <p:nvPr/>
        </p:nvSpPr>
        <p:spPr>
          <a:xfrm>
            <a:off x="12344215" y="30699429"/>
            <a:ext cx="2450592" cy="99669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lnSpc>
                <a:spcPct val="88000"/>
              </a:lnSpc>
              <a:buNone/>
            </a:pPr>
            <a:r>
              <a:rPr lang="en-US" sz="24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Alert</a:t>
            </a:r>
            <a:endParaRPr lang="en-US" sz="2400" dirty="0"/>
          </a:p>
          <a:p>
            <a:pPr marL="0" indent="0" algn="ctr">
              <a:lnSpc>
                <a:spcPct val="88000"/>
              </a:lnSpc>
              <a:buNone/>
            </a:pPr>
            <a:r>
              <a:rPr lang="en-US" sz="24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보호자 알림</a:t>
            </a:r>
            <a:endParaRPr lang="en-US" sz="2400" dirty="0"/>
          </a:p>
        </p:txBody>
      </p:sp>
      <p:sp>
        <p:nvSpPr>
          <p:cNvPr id="49" name="Text 41"/>
          <p:cNvSpPr/>
          <p:nvPr/>
        </p:nvSpPr>
        <p:spPr>
          <a:xfrm>
            <a:off x="1007746" y="32183937"/>
            <a:ext cx="13802582" cy="10058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200" dirty="0">
                <a:solidFill>
                  <a:srgbClr val="30303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• 30프레임 슬라이딩 윈도우로 연속 동작 패턴 분석</a:t>
            </a:r>
            <a:endParaRPr lang="en-US" sz="3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0" indent="0" algn="l">
              <a:lnSpc>
                <a:spcPct val="90000"/>
              </a:lnSpc>
              <a:buNone/>
            </a:pPr>
            <a:r>
              <a:rPr lang="en-US" sz="3200" dirty="0">
                <a:solidFill>
                  <a:srgbClr val="30303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• 낙상 확정 시 Push / SMS / KakaoTalk 알림 전송</a:t>
            </a:r>
            <a:endParaRPr lang="en-US" sz="3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52" name="Text 44"/>
          <p:cNvSpPr/>
          <p:nvPr/>
        </p:nvSpPr>
        <p:spPr>
          <a:xfrm>
            <a:off x="967601" y="21141826"/>
            <a:ext cx="1389402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73E78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3. 시연 이미지</a:t>
            </a:r>
            <a:endParaRPr lang="en-US" sz="30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53" name="Shape 45"/>
          <p:cNvSpPr/>
          <p:nvPr/>
        </p:nvSpPr>
        <p:spPr>
          <a:xfrm>
            <a:off x="967601" y="21745330"/>
            <a:ext cx="13894022" cy="0"/>
          </a:xfrm>
          <a:prstGeom prst="line">
            <a:avLst/>
          </a:prstGeom>
          <a:noFill/>
          <a:ln w="13970">
            <a:solidFill>
              <a:srgbClr val="173E78"/>
            </a:solidFill>
            <a:prstDash val="solid"/>
          </a:ln>
        </p:spPr>
      </p:sp>
      <p:sp>
        <p:nvSpPr>
          <p:cNvPr id="58" name="Text 50"/>
          <p:cNvSpPr/>
          <p:nvPr/>
        </p:nvSpPr>
        <p:spPr>
          <a:xfrm>
            <a:off x="15422976" y="12008858"/>
            <a:ext cx="1389402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73E78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5. 핵심 기술</a:t>
            </a:r>
            <a:endParaRPr lang="en-US" sz="30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59" name="Shape 51"/>
          <p:cNvSpPr/>
          <p:nvPr/>
        </p:nvSpPr>
        <p:spPr>
          <a:xfrm>
            <a:off x="15422976" y="12612362"/>
            <a:ext cx="13894022" cy="0"/>
          </a:xfrm>
          <a:prstGeom prst="line">
            <a:avLst/>
          </a:prstGeom>
          <a:noFill/>
          <a:ln w="13970">
            <a:solidFill>
              <a:srgbClr val="173E78"/>
            </a:solidFill>
            <a:prstDash val="solid"/>
          </a:ln>
        </p:spPr>
      </p:sp>
      <p:sp>
        <p:nvSpPr>
          <p:cNvPr id="60" name="Text 52"/>
          <p:cNvSpPr/>
          <p:nvPr/>
        </p:nvSpPr>
        <p:spPr>
          <a:xfrm>
            <a:off x="15468696" y="12877538"/>
            <a:ext cx="13802582" cy="16002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200" dirty="0">
                <a:solidFill>
                  <a:srgbClr val="30303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• YOLOv11n-pose: 17개 COCO 키포인트 추출</a:t>
            </a:r>
            <a:endParaRPr lang="en-US" sz="3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0" indent="0" algn="l">
              <a:lnSpc>
                <a:spcPct val="90000"/>
              </a:lnSpc>
              <a:buNone/>
            </a:pPr>
            <a:r>
              <a:rPr lang="en-US" sz="3200" dirty="0">
                <a:solidFill>
                  <a:srgbClr val="30303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• ST-GCN: 관절 시계열 패턴 기반 낙상 확률 예측</a:t>
            </a:r>
            <a:endParaRPr lang="en-US" sz="3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0" indent="0" algn="l">
              <a:lnSpc>
                <a:spcPct val="90000"/>
              </a:lnSpc>
              <a:buNone/>
            </a:pPr>
            <a:r>
              <a:rPr lang="en-US" sz="3200" dirty="0">
                <a:solidFill>
                  <a:srgbClr val="30303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• Physics Rescue: Grey zone을 속도·가속도로 재검증</a:t>
            </a:r>
            <a:endParaRPr lang="en-US" sz="3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63" name="Text 55"/>
          <p:cNvSpPr/>
          <p:nvPr/>
        </p:nvSpPr>
        <p:spPr>
          <a:xfrm>
            <a:off x="15422976" y="22354137"/>
            <a:ext cx="1389402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73E78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6. 판정 로직 및 성능</a:t>
            </a:r>
            <a:endParaRPr lang="en-US" sz="30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64" name="Shape 56"/>
          <p:cNvSpPr/>
          <p:nvPr/>
        </p:nvSpPr>
        <p:spPr>
          <a:xfrm>
            <a:off x="15422976" y="22957641"/>
            <a:ext cx="13894022" cy="0"/>
          </a:xfrm>
          <a:prstGeom prst="line">
            <a:avLst/>
          </a:prstGeom>
          <a:noFill/>
          <a:ln w="13970">
            <a:solidFill>
              <a:srgbClr val="173E78"/>
            </a:solidFill>
            <a:prstDash val="solid"/>
          </a:ln>
        </p:spPr>
      </p:sp>
      <p:sp>
        <p:nvSpPr>
          <p:cNvPr id="74" name="Text 66"/>
          <p:cNvSpPr/>
          <p:nvPr/>
        </p:nvSpPr>
        <p:spPr>
          <a:xfrm>
            <a:off x="15468696" y="26042866"/>
            <a:ext cx="13802582" cy="9601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200" dirty="0">
                <a:solidFill>
                  <a:srgbClr val="30303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• 불확실 구간만 물리 필터를 적용해 오탐 감소</a:t>
            </a:r>
            <a:endParaRPr lang="en-US" sz="3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0" indent="0" algn="l">
              <a:lnSpc>
                <a:spcPct val="90000"/>
              </a:lnSpc>
              <a:buNone/>
            </a:pPr>
            <a:r>
              <a:rPr lang="en-US" sz="3200" dirty="0">
                <a:solidFill>
                  <a:srgbClr val="30303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• Fall F1-Score 0.955, Precision 95%, Recall 96%</a:t>
            </a:r>
            <a:endParaRPr lang="en-US" sz="3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79" name="Text 71"/>
          <p:cNvSpPr/>
          <p:nvPr/>
        </p:nvSpPr>
        <p:spPr>
          <a:xfrm>
            <a:off x="15468696" y="32653688"/>
            <a:ext cx="1380258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2400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ST-GCN 단독 vs ST-GCN + Physics Rescue 비교</a:t>
            </a:r>
            <a:endParaRPr lang="en-US" sz="2400" dirty="0"/>
          </a:p>
        </p:txBody>
      </p:sp>
      <p:sp>
        <p:nvSpPr>
          <p:cNvPr id="80" name="Text 72"/>
          <p:cNvSpPr/>
          <p:nvPr/>
        </p:nvSpPr>
        <p:spPr>
          <a:xfrm>
            <a:off x="15422976" y="33649008"/>
            <a:ext cx="1389402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73E78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7. 기대 효과</a:t>
            </a:r>
            <a:endParaRPr lang="en-US" sz="30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81" name="Shape 73"/>
          <p:cNvSpPr/>
          <p:nvPr/>
        </p:nvSpPr>
        <p:spPr>
          <a:xfrm>
            <a:off x="15422976" y="34252512"/>
            <a:ext cx="13894022" cy="0"/>
          </a:xfrm>
          <a:prstGeom prst="line">
            <a:avLst/>
          </a:prstGeom>
          <a:noFill/>
          <a:ln w="13970">
            <a:solidFill>
              <a:srgbClr val="173E78"/>
            </a:solidFill>
            <a:prstDash val="solid"/>
          </a:ln>
        </p:spPr>
      </p:sp>
      <p:sp>
        <p:nvSpPr>
          <p:cNvPr id="90" name="Text 82"/>
          <p:cNvSpPr/>
          <p:nvPr/>
        </p:nvSpPr>
        <p:spPr>
          <a:xfrm>
            <a:off x="24987600" y="35702289"/>
            <a:ext cx="429768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95000"/>
              </a:lnSpc>
              <a:buNone/>
            </a:pPr>
            <a:endParaRPr lang="en-US" dirty="0"/>
          </a:p>
        </p:txBody>
      </p:sp>
      <p:sp>
        <p:nvSpPr>
          <p:cNvPr id="93" name="Text 85"/>
          <p:cNvSpPr/>
          <p:nvPr/>
        </p:nvSpPr>
        <p:spPr>
          <a:xfrm>
            <a:off x="15422976" y="37425190"/>
            <a:ext cx="1389402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73E78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8. 결론 및 향후 계획</a:t>
            </a:r>
            <a:endParaRPr lang="en-US" sz="30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94" name="Shape 86"/>
          <p:cNvSpPr/>
          <p:nvPr/>
        </p:nvSpPr>
        <p:spPr>
          <a:xfrm>
            <a:off x="15422976" y="38028694"/>
            <a:ext cx="13894022" cy="0"/>
          </a:xfrm>
          <a:prstGeom prst="line">
            <a:avLst/>
          </a:prstGeom>
          <a:noFill/>
          <a:ln w="13970">
            <a:solidFill>
              <a:srgbClr val="173E78"/>
            </a:solidFill>
            <a:prstDash val="solid"/>
          </a:ln>
        </p:spPr>
      </p:sp>
      <p:sp>
        <p:nvSpPr>
          <p:cNvPr id="95" name="Text 87"/>
          <p:cNvSpPr/>
          <p:nvPr/>
        </p:nvSpPr>
        <p:spPr>
          <a:xfrm>
            <a:off x="15468696" y="38370487"/>
            <a:ext cx="13802582" cy="13258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200" dirty="0">
                <a:solidFill>
                  <a:srgbClr val="30303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• Edge AI 기반으로 예방·감지·재활을 통합한 비접촉 돌봄 플랫폼 구현</a:t>
            </a:r>
            <a:endParaRPr lang="en-US" sz="3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0" indent="0" algn="l">
              <a:lnSpc>
                <a:spcPct val="90000"/>
              </a:lnSpc>
              <a:buNone/>
            </a:pPr>
            <a:r>
              <a:rPr lang="en-US" sz="3200" dirty="0">
                <a:solidFill>
                  <a:srgbClr val="30303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• 향후 LOSO 교차검증, 실제 환경 데이터 확장, LSTM/TCN 베이스라인 비교 진행</a:t>
            </a:r>
            <a:endParaRPr lang="en-US" sz="3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98" name="Shape 9"/>
          <p:cNvSpPr/>
          <p:nvPr/>
        </p:nvSpPr>
        <p:spPr>
          <a:xfrm flipH="1">
            <a:off x="15134654" y="7434309"/>
            <a:ext cx="55436" cy="32598360"/>
          </a:xfrm>
          <a:prstGeom prst="line">
            <a:avLst/>
          </a:prstGeom>
          <a:noFill/>
          <a:ln w="13970">
            <a:solidFill>
              <a:srgbClr val="173E78"/>
            </a:solidFill>
            <a:prstDash val="solid"/>
          </a:ln>
        </p:spPr>
      </p:sp>
      <p:pic>
        <p:nvPicPr>
          <p:cNvPr id="2" name="그림 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13808" y="23091183"/>
            <a:ext cx="2449146" cy="5306483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013433" y="23091183"/>
            <a:ext cx="2471545" cy="5355014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13620" y="23091183"/>
            <a:ext cx="2449146" cy="5345891"/>
          </a:xfrm>
          <a:prstGeom prst="rect">
            <a:avLst/>
          </a:prstGeom>
        </p:spPr>
      </p:pic>
      <p:sp>
        <p:nvSpPr>
          <p:cNvPr id="6" name="오른쪽 화살표 5"/>
          <p:cNvSpPr/>
          <p:nvPr/>
        </p:nvSpPr>
        <p:spPr>
          <a:xfrm>
            <a:off x="5237483" y="25720099"/>
            <a:ext cx="635000" cy="335551"/>
          </a:xfrm>
          <a:prstGeom prst="rightArrow">
            <a:avLst>
              <a:gd name="adj1" fmla="val 42430"/>
              <a:gd name="adj2" fmla="val 53785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0" name="오른쪽 화살표 99"/>
          <p:cNvSpPr/>
          <p:nvPr/>
        </p:nvSpPr>
        <p:spPr>
          <a:xfrm>
            <a:off x="9803903" y="25720099"/>
            <a:ext cx="635000" cy="335551"/>
          </a:xfrm>
          <a:prstGeom prst="rightArrow">
            <a:avLst>
              <a:gd name="adj1" fmla="val 42430"/>
              <a:gd name="adj2" fmla="val 53785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9" name="그림 8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856332" y="33431323"/>
            <a:ext cx="11623071" cy="6275674"/>
          </a:xfrm>
          <a:prstGeom prst="rect">
            <a:avLst/>
          </a:prstGeom>
        </p:spPr>
      </p:pic>
      <p:pic>
        <p:nvPicPr>
          <p:cNvPr id="23" name="그림 22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6587116" y="27290840"/>
            <a:ext cx="5096586" cy="5096586"/>
          </a:xfrm>
          <a:prstGeom prst="rect">
            <a:avLst/>
          </a:prstGeom>
        </p:spPr>
      </p:pic>
      <p:pic>
        <p:nvPicPr>
          <p:cNvPr id="31" name="그림 30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3247810" y="27282307"/>
            <a:ext cx="5058481" cy="5115639"/>
          </a:xfrm>
          <a:prstGeom prst="rect">
            <a:avLst/>
          </a:prstGeom>
        </p:spPr>
      </p:pic>
      <p:pic>
        <p:nvPicPr>
          <p:cNvPr id="101" name="그림 100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351650" y="14612341"/>
            <a:ext cx="12747807" cy="5887601"/>
          </a:xfrm>
          <a:prstGeom prst="rect">
            <a:avLst/>
          </a:prstGeom>
        </p:spPr>
      </p:pic>
      <p:pic>
        <p:nvPicPr>
          <p:cNvPr id="102" name="그림 101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6420145" y="14823899"/>
            <a:ext cx="4739893" cy="2659862"/>
          </a:xfrm>
          <a:prstGeom prst="rect">
            <a:avLst/>
          </a:prstGeom>
        </p:spPr>
      </p:pic>
      <p:pic>
        <p:nvPicPr>
          <p:cNvPr id="103" name="그림 102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5913918" y="18719567"/>
            <a:ext cx="13651237" cy="2792793"/>
          </a:xfrm>
          <a:prstGeom prst="rect">
            <a:avLst/>
          </a:prstGeom>
        </p:spPr>
      </p:pic>
      <p:sp>
        <p:nvSpPr>
          <p:cNvPr id="106" name="Text 71"/>
          <p:cNvSpPr/>
          <p:nvPr/>
        </p:nvSpPr>
        <p:spPr>
          <a:xfrm>
            <a:off x="15468696" y="21557754"/>
            <a:ext cx="1380258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2400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ST-GCN </a:t>
            </a:r>
            <a:r>
              <a:rPr lang="ko-KR" altLang="en-US" sz="2400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구조</a:t>
            </a:r>
            <a:endParaRPr lang="en-US" sz="2400" dirty="0"/>
          </a:p>
        </p:txBody>
      </p:sp>
      <p:sp>
        <p:nvSpPr>
          <p:cNvPr id="107" name="Text 71"/>
          <p:cNvSpPr/>
          <p:nvPr/>
        </p:nvSpPr>
        <p:spPr>
          <a:xfrm>
            <a:off x="16271988" y="17597196"/>
            <a:ext cx="4888050" cy="311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2400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</a:rPr>
              <a:t>YOLOv11n-pose</a:t>
            </a:r>
            <a:endParaRPr lang="en-US" sz="2400" dirty="0"/>
          </a:p>
        </p:txBody>
      </p:sp>
      <p:sp>
        <p:nvSpPr>
          <p:cNvPr id="108" name="Text 71"/>
          <p:cNvSpPr/>
          <p:nvPr/>
        </p:nvSpPr>
        <p:spPr>
          <a:xfrm>
            <a:off x="22871705" y="17713699"/>
            <a:ext cx="4888050" cy="311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2400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</a:rPr>
              <a:t>Physics Rescue</a:t>
            </a:r>
            <a:endParaRPr lang="en-US" sz="2400" dirty="0"/>
          </a:p>
        </p:txBody>
      </p:sp>
      <p:pic>
        <p:nvPicPr>
          <p:cNvPr id="105" name="그림 104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5386274" y="7468799"/>
            <a:ext cx="14216972" cy="3654461"/>
          </a:xfrm>
          <a:prstGeom prst="rect">
            <a:avLst/>
          </a:prstGeom>
        </p:spPr>
      </p:pic>
      <p:sp>
        <p:nvSpPr>
          <p:cNvPr id="111" name="Text 71"/>
          <p:cNvSpPr/>
          <p:nvPr/>
        </p:nvSpPr>
        <p:spPr>
          <a:xfrm>
            <a:off x="15468696" y="11157789"/>
            <a:ext cx="1380258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lnSpc>
                <a:spcPct val="95000"/>
              </a:lnSpc>
              <a:buNone/>
            </a:pPr>
            <a:r>
              <a:rPr lang="ko-KR" altLang="en-US" sz="2400" dirty="0" err="1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벡앤드</a:t>
            </a:r>
            <a:r>
              <a:rPr lang="ko-KR" altLang="en-US" sz="2400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흐름</a:t>
            </a:r>
            <a:endParaRPr lang="en-US" sz="2400" dirty="0"/>
          </a:p>
        </p:txBody>
      </p:sp>
      <p:pic>
        <p:nvPicPr>
          <p:cNvPr id="114" name="그림 113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2744935" y="14539003"/>
            <a:ext cx="5014820" cy="3022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36838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365</TotalTime>
  <Words>276</Words>
  <Application>Microsoft Office PowerPoint</Application>
  <PresentationFormat>사용자 지정</PresentationFormat>
  <Paragraphs>54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9" baseType="lpstr">
      <vt:lpstr>Pretendard</vt:lpstr>
      <vt:lpstr>Pretendard Medium</vt:lpstr>
      <vt:lpstr>Arial</vt:lpstr>
      <vt:lpstr>Calibri</vt:lpstr>
      <vt:lpstr>Calibri Light</vt:lpstr>
      <vt:lpstr>helvetica</vt:lpstr>
      <vt:lpstr>맑은 고딕</vt:lpstr>
      <vt:lpstr>Office 테마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BongjaeKim</dc:creator>
  <cp:lastModifiedBy>다민 김</cp:lastModifiedBy>
  <cp:revision>35</cp:revision>
  <dcterms:created xsi:type="dcterms:W3CDTF">2023-07-30T02:53:22Z</dcterms:created>
  <dcterms:modified xsi:type="dcterms:W3CDTF">2026-07-05T10:24:42Z</dcterms:modified>
</cp:coreProperties>
</file>